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Positive (Toxic) Prevalence per Endpoint (%) — Severe Imbalance (1.9% to 18%)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Toxic / Active (% of labelled)</c:v>
                </c:pt>
              </c:strCache>
            </c:strRef>
          </c:tx>
          <c:spPr>
            <a:solidFill>
              <a:srgbClr val="D55E00"/>
            </a:solidFill>
          </c:spPr>
          <c:cat>
            <c:strRef>
              <c:f>Sheet1!$A$2:$A$13</c:f>
              <c:strCache>
                <c:ptCount val="12"/>
                <c:pt idx="0">
                  <c:v>NR-AR</c:v>
                </c:pt>
                <c:pt idx="1">
                  <c:v>NR-AR-LBD</c:v>
                </c:pt>
                <c:pt idx="2">
                  <c:v>NR-AhR</c:v>
                </c:pt>
                <c:pt idx="3">
                  <c:v>NR-Aromatase</c:v>
                </c:pt>
                <c:pt idx="4">
                  <c:v>NR-ER</c:v>
                </c:pt>
                <c:pt idx="5">
                  <c:v>NR-ER-LBD</c:v>
                </c:pt>
                <c:pt idx="6">
                  <c:v>NR-PPAR-gamma</c:v>
                </c:pt>
                <c:pt idx="7">
                  <c:v>SR-ARE</c:v>
                </c:pt>
                <c:pt idx="8">
                  <c:v>SR-ATAD5</c:v>
                </c:pt>
                <c:pt idx="9">
                  <c:v>SR-HSE</c:v>
                </c:pt>
                <c:pt idx="10">
                  <c:v>SR-MMP</c:v>
                </c:pt>
                <c:pt idx="11">
                  <c:v>SR-p53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4.24</c:v>
                </c:pt>
                <c:pt idx="1">
                  <c:v>3.51</c:v>
                </c:pt>
                <c:pt idx="2">
                  <c:v>11.74</c:v>
                </c:pt>
                <c:pt idx="3">
                  <c:v>5.16</c:v>
                </c:pt>
                <c:pt idx="4">
                  <c:v>12.79</c:v>
                </c:pt>
                <c:pt idx="5">
                  <c:v>5.02</c:v>
                </c:pt>
                <c:pt idx="6">
                  <c:v>2.89</c:v>
                </c:pt>
                <c:pt idx="7">
                  <c:v>16.17</c:v>
                </c:pt>
                <c:pt idx="8">
                  <c:v>3.74</c:v>
                </c:pt>
                <c:pt idx="9">
                  <c:v>5.76</c:v>
                </c:pt>
                <c:pt idx="10">
                  <c:v>15.82</c:v>
                </c:pt>
                <c:pt idx="11">
                  <c:v>6.25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4AF"/>
            </a:solidFill>
          </a:ln>
        </c:spPr>
        <c:txPr>
          <a:bodyPr/>
          <a:lstStyle/>
          <a:p>
            <a:pPr>
              <a:defRPr sz="1100">
                <a:solidFill>
                  <a:srgbClr val="222B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C67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22B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Macro ROC-AUC by Model &amp; Feature Set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Morgan (2048)</c:v>
                </c:pt>
              </c:strCache>
            </c:strRef>
          </c:tx>
          <c:spPr>
            <a:solidFill>
              <a:srgbClr val="0072B2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0.6986974288127379</c:v>
                </c:pt>
                <c:pt idx="1">
                  <c:v>0.7207928648528075</c:v>
                </c:pt>
                <c:pt idx="2">
                  <c:v>0.711399356098784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Descriptors (9)</c:v>
                </c:pt>
              </c:strCache>
            </c:strRef>
          </c:tx>
          <c:spPr>
            <a:solidFill>
              <a:srgbClr val="E69F00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0.7203255241878851</c:v>
                </c:pt>
                <c:pt idx="1">
                  <c:v>0.7215181452348028</c:v>
                </c:pt>
                <c:pt idx="2">
                  <c:v>0.7023809811048615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 (2057)</c:v>
                </c:pt>
              </c:strCache>
            </c:strRef>
          </c:tx>
          <c:spPr>
            <a:solidFill>
              <a:srgbClr val="009E73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0.7138232790201909</c:v>
                </c:pt>
                <c:pt idx="1">
                  <c:v>0.7487961050314101</c:v>
                </c:pt>
                <c:pt idx="2">
                  <c:v>0.7456137265821804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4AF"/>
            </a:solidFill>
          </a:ln>
        </c:spPr>
        <c:txPr>
          <a:bodyPr/>
          <a:lstStyle/>
          <a:p>
            <a:pPr>
              <a:defRPr sz="1200">
                <a:solidFill>
                  <a:srgbClr val="222B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6"/>
        </c:scaling>
        <c:delete val="0"/>
        <c:axPos val="l"/>
        <c:majorGridlines>
          <c:spPr>
            <a:ln>
              <a:solidFill>
                <a:srgbClr val="D9DEE5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C67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222B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Macro PR-AUC (Average Precision)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Morgan (2048)</c:v>
                </c:pt>
              </c:strCache>
            </c:strRef>
          </c:tx>
          <c:spPr>
            <a:solidFill>
              <a:srgbClr val="0072B2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0.26019770150384397</c:v>
                </c:pt>
                <c:pt idx="1">
                  <c:v>0.34578705475756033</c:v>
                </c:pt>
                <c:pt idx="2">
                  <c:v>0.30269741838054776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Descriptors (9)</c:v>
                </c:pt>
              </c:strCache>
            </c:strRef>
          </c:tx>
          <c:spPr>
            <a:solidFill>
              <a:srgbClr val="E69F00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0.19678093810862504</c:v>
                </c:pt>
                <c:pt idx="1">
                  <c:v>0.2900693960693849</c:v>
                </c:pt>
                <c:pt idx="2">
                  <c:v>0.2911113954603743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 (2057)</c:v>
                </c:pt>
              </c:strCache>
            </c:strRef>
          </c:tx>
          <c:spPr>
            <a:solidFill>
              <a:srgbClr val="009E73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0.2341341765380798</c:v>
                </c:pt>
                <c:pt idx="1">
                  <c:v>0.3890925932486169</c:v>
                </c:pt>
                <c:pt idx="2">
                  <c:v>0.34949036805972095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4AF"/>
            </a:solidFill>
          </a:ln>
        </c:spPr>
        <c:txPr>
          <a:bodyPr/>
          <a:lstStyle/>
          <a:p>
            <a:pPr>
              <a:defRPr sz="1200">
                <a:solidFill>
                  <a:srgbClr val="222B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5"/>
          <c:min val="0.0"/>
        </c:scaling>
        <c:delete val="0"/>
        <c:axPos val="l"/>
        <c:majorGridlines>
          <c:spPr>
            <a:ln>
              <a:solidFill>
                <a:srgbClr val="D9DEE5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C67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222B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Test ROC-AUC &amp; PR-AUC by Assay (Hardest at Top → Easiest at Bottom)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72B2"/>
            </a:solidFill>
          </c:spPr>
          <c:cat>
            <c:strRef>
              <c:f>Sheet1!$A$2:$A$13</c:f>
              <c:strCache>
                <c:ptCount val="12"/>
                <c:pt idx="0">
                  <c:v>SR-ARE</c:v>
                </c:pt>
                <c:pt idx="1">
                  <c:v>NR-AR</c:v>
                </c:pt>
                <c:pt idx="2">
                  <c:v>NR-PPAR-gamma</c:v>
                </c:pt>
                <c:pt idx="3">
                  <c:v>SR-ATAD5</c:v>
                </c:pt>
                <c:pt idx="4">
                  <c:v>NR-ER</c:v>
                </c:pt>
                <c:pt idx="5">
                  <c:v>SR-p53</c:v>
                </c:pt>
                <c:pt idx="6">
                  <c:v>NR-ER-LBD</c:v>
                </c:pt>
                <c:pt idx="7">
                  <c:v>NR-Aromatase</c:v>
                </c:pt>
                <c:pt idx="8">
                  <c:v>SR-HSE</c:v>
                </c:pt>
                <c:pt idx="9">
                  <c:v>NR-AR-LBD</c:v>
                </c:pt>
                <c:pt idx="10">
                  <c:v>SR-MMP</c:v>
                </c:pt>
                <c:pt idx="11">
                  <c:v>NR-AhR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0.662</c:v>
                </c:pt>
                <c:pt idx="1">
                  <c:v>0.67</c:v>
                </c:pt>
                <c:pt idx="2">
                  <c:v>0.707</c:v>
                </c:pt>
                <c:pt idx="3">
                  <c:v>0.715</c:v>
                </c:pt>
                <c:pt idx="4">
                  <c:v>0.726</c:v>
                </c:pt>
                <c:pt idx="5">
                  <c:v>0.729</c:v>
                </c:pt>
                <c:pt idx="6">
                  <c:v>0.73</c:v>
                </c:pt>
                <c:pt idx="7">
                  <c:v>0.758</c:v>
                </c:pt>
                <c:pt idx="8">
                  <c:v>0.774</c:v>
                </c:pt>
                <c:pt idx="9">
                  <c:v>0.818</c:v>
                </c:pt>
                <c:pt idx="10">
                  <c:v>0.846</c:v>
                </c:pt>
                <c:pt idx="11">
                  <c:v>0.852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 (AP)</c:v>
                </c:pt>
              </c:strCache>
            </c:strRef>
          </c:tx>
          <c:spPr>
            <a:solidFill>
              <a:srgbClr val="009E73"/>
            </a:solidFill>
          </c:spPr>
          <c:cat>
            <c:strRef>
              <c:f>Sheet1!$A$2:$A$13</c:f>
              <c:strCache>
                <c:ptCount val="12"/>
                <c:pt idx="0">
                  <c:v>SR-ARE</c:v>
                </c:pt>
                <c:pt idx="1">
                  <c:v>NR-AR</c:v>
                </c:pt>
                <c:pt idx="2">
                  <c:v>NR-PPAR-gamma</c:v>
                </c:pt>
                <c:pt idx="3">
                  <c:v>SR-ATAD5</c:v>
                </c:pt>
                <c:pt idx="4">
                  <c:v>NR-ER</c:v>
                </c:pt>
                <c:pt idx="5">
                  <c:v>SR-p53</c:v>
                </c:pt>
                <c:pt idx="6">
                  <c:v>NR-ER-LBD</c:v>
                </c:pt>
                <c:pt idx="7">
                  <c:v>NR-Aromatase</c:v>
                </c:pt>
                <c:pt idx="8">
                  <c:v>SR-HSE</c:v>
                </c:pt>
                <c:pt idx="9">
                  <c:v>NR-AR-LBD</c:v>
                </c:pt>
                <c:pt idx="10">
                  <c:v>SR-MMP</c:v>
                </c:pt>
                <c:pt idx="11">
                  <c:v>NR-AhR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0.365</c:v>
                </c:pt>
                <c:pt idx="1">
                  <c:v>0.335</c:v>
                </c:pt>
                <c:pt idx="2">
                  <c:v>0.201</c:v>
                </c:pt>
                <c:pt idx="3">
                  <c:v>0.295</c:v>
                </c:pt>
                <c:pt idx="4">
                  <c:v>0.428</c:v>
                </c:pt>
                <c:pt idx="5">
                  <c:v>0.335</c:v>
                </c:pt>
                <c:pt idx="6">
                  <c:v>0.486</c:v>
                </c:pt>
                <c:pt idx="7">
                  <c:v>0.304</c:v>
                </c:pt>
                <c:pt idx="8">
                  <c:v>0.367</c:v>
                </c:pt>
                <c:pt idx="9">
                  <c:v>0.421</c:v>
                </c:pt>
                <c:pt idx="10">
                  <c:v>0.594</c:v>
                </c:pt>
                <c:pt idx="11">
                  <c:v>0.539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Prevalence (Random Baseline)</c:v>
                </c:pt>
              </c:strCache>
            </c:strRef>
          </c:tx>
          <c:spPr>
            <a:solidFill>
              <a:srgbClr val="9AA4AF"/>
            </a:solidFill>
          </c:spPr>
          <c:cat>
            <c:strRef>
              <c:f>Sheet1!$A$2:$A$13</c:f>
              <c:strCache>
                <c:ptCount val="12"/>
                <c:pt idx="0">
                  <c:v>SR-ARE</c:v>
                </c:pt>
                <c:pt idx="1">
                  <c:v>NR-AR</c:v>
                </c:pt>
                <c:pt idx="2">
                  <c:v>NR-PPAR-gamma</c:v>
                </c:pt>
                <c:pt idx="3">
                  <c:v>SR-ATAD5</c:v>
                </c:pt>
                <c:pt idx="4">
                  <c:v>NR-ER</c:v>
                </c:pt>
                <c:pt idx="5">
                  <c:v>SR-p53</c:v>
                </c:pt>
                <c:pt idx="6">
                  <c:v>NR-ER-LBD</c:v>
                </c:pt>
                <c:pt idx="7">
                  <c:v>NR-Aromatase</c:v>
                </c:pt>
                <c:pt idx="8">
                  <c:v>SR-HSE</c:v>
                </c:pt>
                <c:pt idx="9">
                  <c:v>NR-AR-LBD</c:v>
                </c:pt>
                <c:pt idx="10">
                  <c:v>SR-MMP</c:v>
                </c:pt>
                <c:pt idx="11">
                  <c:v>NR-AhR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0.21</c:v>
                </c:pt>
                <c:pt idx="1">
                  <c:v>0.035</c:v>
                </c:pt>
                <c:pt idx="2">
                  <c:v>0.048</c:v>
                </c:pt>
                <c:pt idx="3">
                  <c:v>0.038</c:v>
                </c:pt>
                <c:pt idx="4">
                  <c:v>0.122</c:v>
                </c:pt>
                <c:pt idx="5">
                  <c:v>0.097</c:v>
                </c:pt>
                <c:pt idx="6">
                  <c:v>0.041</c:v>
                </c:pt>
                <c:pt idx="7">
                  <c:v>0.079</c:v>
                </c:pt>
                <c:pt idx="8">
                  <c:v>0.078</c:v>
                </c:pt>
                <c:pt idx="9">
                  <c:v>0.022</c:v>
                </c:pt>
                <c:pt idx="10">
                  <c:v>0.216</c:v>
                </c:pt>
                <c:pt idx="11">
                  <c:v>0.146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A4AF"/>
            </a:solidFill>
          </a:ln>
        </c:spPr>
        <c:txPr>
          <a:bodyPr/>
          <a:lstStyle/>
          <a:p>
            <a:pPr>
              <a:defRPr sz="1100">
                <a:solidFill>
                  <a:srgbClr val="222B3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D9DE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C67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222B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panel. Emphasize that this is Phase 1 (Classical ML benchmark with strict scaffold splitting).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findings and transition to Phase 2 (Graph Neural Networks).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Ready for Q&amp;A. All team members stand by their respective technical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8FD3BE"/>
                </a:solidFill>
                <a:latin typeface="Calibri"/>
              </a:rPr>
              <a:t>AI / MACHINE LEARNING RESEARCH PROJECT —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Molecular Toxicity Prediction via Chemical Fingerprints and Classical ML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1">
                <a:solidFill>
                  <a:srgbClr val="CAD5E2"/>
                </a:solidFill>
                <a:latin typeface="Calibri"/>
              </a:rPr>
              <a:t>Benchmarking Multi-Task Toxicological Classifiers with Strict Bemis–Murcko Scaffold Splitting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2C3E5A"/>
          </a:solidFill>
          <a:ln w="12700">
            <a:solidFill>
              <a:srgbClr val="3D5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87451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8FD3BE"/>
                </a:solidFill>
                <a:latin typeface="Calibri"/>
              </a:rPr>
              <a:t>Student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Amogha 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874519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CAD5E2"/>
                </a:solidFill>
                <a:latin typeface="Calibri"/>
              </a:rPr>
              <a:t>Dataset Preprocessing
&amp; Quality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393192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2C3E5A"/>
          </a:solidFill>
          <a:ln w="12700">
            <a:solidFill>
              <a:srgbClr val="3D5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4069080"/>
            <a:ext cx="187451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8FD3BE"/>
                </a:solidFill>
                <a:latin typeface="Calibri"/>
              </a:rPr>
              <a:t>Student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Bulbul Agarwalla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4937760"/>
            <a:ext cx="1874519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CAD5E2"/>
                </a:solidFill>
                <a:latin typeface="Calibri"/>
              </a:rPr>
              <a:t>Feature Engineering
&amp; Scaffold Splitting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393192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2C3E5A"/>
          </a:solidFill>
          <a:ln w="12700">
            <a:solidFill>
              <a:srgbClr val="3D5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3" y="4069080"/>
            <a:ext cx="187451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8FD3BE"/>
                </a:solidFill>
                <a:latin typeface="Calibri"/>
              </a:rPr>
              <a:t>Student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Shourya Pratap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3" y="4937760"/>
            <a:ext cx="1874519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CAD5E2"/>
                </a:solidFill>
                <a:latin typeface="Calibri"/>
              </a:rPr>
              <a:t>Classical ML Models
&amp; Imbalance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393192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2C3E5A"/>
          </a:solidFill>
          <a:ln w="12700">
            <a:solidFill>
              <a:srgbClr val="3D5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4069080"/>
            <a:ext cx="187451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8FD3BE"/>
                </a:solidFill>
                <a:latin typeface="Calibri"/>
              </a:rPr>
              <a:t>Student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Kanishka Dubey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4937760"/>
            <a:ext cx="1874519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CAD5E2"/>
                </a:solidFill>
                <a:latin typeface="Calibri"/>
              </a:rPr>
              <a:t>Evaluation Metrics
&amp; Statistical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3931920"/>
            <a:ext cx="2057400" cy="2194560"/>
          </a:xfrm>
          <a:prstGeom prst="roundRect">
            <a:avLst>
              <a:gd name="adj" fmla="val 8000"/>
            </a:avLst>
          </a:prstGeom>
          <a:solidFill>
            <a:srgbClr val="2C3E5A"/>
          </a:solidFill>
          <a:ln w="12700">
            <a:solidFill>
              <a:srgbClr val="3D5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4069080"/>
            <a:ext cx="187451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8FD3BE"/>
                </a:solidFill>
                <a:latin typeface="Calibri"/>
              </a:rPr>
              <a:t>Student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Aditya Yadav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4937760"/>
            <a:ext cx="1874519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CAD5E2"/>
                </a:solidFill>
                <a:latin typeface="Calibri"/>
              </a:rPr>
              <a:t>Literature Review
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Why In-Silico Molecular Toxicity Prediction?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Toxicity testing bottleneck in drug discovery and environmental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97480" cy="43891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240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B2A41"/>
                </a:solidFill>
                <a:latin typeface="Cambria"/>
              </a:rPr>
              <a:t>Wet-Lab Testing is Slow &amp; Costly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222B36"/>
                </a:solidFill>
                <a:latin typeface="Calibri"/>
              </a:rPr>
              <a:t>Traditional in vivo animal toxicology takes years, costs millions of dollars per compound, and raises major ethical concerns.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554480"/>
            <a:ext cx="2697480" cy="43891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93592" y="1783080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423160"/>
            <a:ext cx="2240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B2A41"/>
                </a:solidFill>
                <a:latin typeface="Cambria"/>
              </a:rPr>
              <a:t>The Tox21 High-Throughput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33756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222B36"/>
                </a:solidFill>
                <a:latin typeface="Calibri"/>
              </a:rPr>
              <a:t>US Agencies (NIH, EPA, FDA) created Tox21: testing 10,000+ compounds against 12 crucial cellular toxicity pathways using robotics.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2697480" cy="43891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9944" y="1783080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23160"/>
            <a:ext cx="2240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B2A41"/>
                </a:solidFill>
                <a:latin typeface="Cambria"/>
              </a:rPr>
              <a:t>The Machine Learning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33756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222B36"/>
                </a:solidFill>
                <a:latin typeface="Calibri"/>
              </a:rPr>
              <a:t>Real-world data has 7% to 26% missing assay labels and severe class imbalance (up to 34:1 non-toxic to toxic).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554480"/>
            <a:ext cx="2697480" cy="43891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1783080"/>
            <a:ext cx="457200" cy="457200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423160"/>
            <a:ext cx="2240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B2A41"/>
                </a:solidFill>
                <a:latin typeface="Cambria"/>
              </a:rPr>
              <a:t>The Need for Honest Benchmarks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33756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222B36"/>
                </a:solidFill>
                <a:latin typeface="Calibri"/>
              </a:rPr>
              <a:t>Standard random splits overestimate model capability by testing on familiar molecules. We need structure-aware scaffold splitting.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Tox21 Dataset: Curation &amp; Endpoint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7,823 validated small molecules across 12 biological pathway assays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291840" cy="7188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1B2A41"/>
                </a:solidFill>
                <a:latin typeface="Cambria"/>
              </a:rPr>
              <a:t>7,823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8186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C6773"/>
                </a:solidFill>
                <a:latin typeface="Calibri"/>
              </a:rPr>
              <a:t>Clean compounds kept of 7,831
(8 excluded: Al valence sanitization errors)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3291840" cy="7188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1B2A41"/>
                </a:solidFill>
                <a:latin typeface="Cambria"/>
              </a:rPr>
              <a:t>12 Assays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9062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C6773"/>
                </a:solidFill>
                <a:latin typeface="Calibri"/>
              </a:rPr>
              <a:t>7 Nuclear Receptors (NR)
5 Stress Response (SR) pathways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3291840" cy="7188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D55E00"/>
                </a:solidFill>
                <a:latin typeface="Cambria"/>
              </a:rPr>
              <a:t>17.1%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9938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C6773"/>
                </a:solidFill>
                <a:latin typeface="Calibri"/>
              </a:rPr>
              <a:t>Assay labels missing overall
(Masked per-task, never imputed as negative)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0" y="1371600"/>
          <a:ext cx="7498079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End-to-End Methodology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Rigorous, leak-free training and out-of-sample 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4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1691640"/>
            <a:ext cx="1463040" cy="960120"/>
          </a:xfrm>
          <a:prstGeom prst="homePlat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43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Raw Tox21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88036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 i="0">
                <a:solidFill>
                  <a:srgbClr val="222B36"/>
                </a:solidFill>
                <a:latin typeface="Calibri"/>
              </a:rPr>
              <a:t>7,831 CSV rows
SHA-256 verified</a:t>
            </a:r>
          </a:p>
        </p:txBody>
      </p:sp>
      <p:sp>
        <p:nvSpPr>
          <p:cNvPr id="9" name="Chevron 8"/>
          <p:cNvSpPr/>
          <p:nvPr/>
        </p:nvSpPr>
        <p:spPr>
          <a:xfrm>
            <a:off x="2148840" y="1691640"/>
            <a:ext cx="1463040" cy="960120"/>
          </a:xfrm>
          <a:prstGeom prst="chevron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6916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RDKit Curate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88036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297180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 i="0">
                <a:solidFill>
                  <a:srgbClr val="222B36"/>
                </a:solidFill>
                <a:latin typeface="Calibri"/>
              </a:rPr>
              <a:t>Sanitize SMILES
8 Al errors removed
7,823 valid kept</a:t>
            </a:r>
          </a:p>
        </p:txBody>
      </p:sp>
      <p:sp>
        <p:nvSpPr>
          <p:cNvPr id="13" name="Chevron 12"/>
          <p:cNvSpPr/>
          <p:nvPr/>
        </p:nvSpPr>
        <p:spPr>
          <a:xfrm>
            <a:off x="3749039" y="1691640"/>
            <a:ext cx="1463040" cy="960120"/>
          </a:xfrm>
          <a:prstGeom prst="chevron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16916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Featurize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59" y="288036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79" y="297180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 i="0">
                <a:solidFill>
                  <a:srgbClr val="222B36"/>
                </a:solidFill>
                <a:latin typeface="Calibri"/>
              </a:rPr>
              <a:t>Morgan (2048)
+ 9 Descriptors
= 2,057 dims</a:t>
            </a:r>
          </a:p>
        </p:txBody>
      </p:sp>
      <p:sp>
        <p:nvSpPr>
          <p:cNvPr id="17" name="Chevron 16"/>
          <p:cNvSpPr/>
          <p:nvPr/>
        </p:nvSpPr>
        <p:spPr>
          <a:xfrm>
            <a:off x="5349240" y="1691640"/>
            <a:ext cx="1463040" cy="960120"/>
          </a:xfrm>
          <a:prstGeom prst="chevron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59" y="16916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Scaffold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59" y="288036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79" y="297180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 i="0">
                <a:solidFill>
                  <a:srgbClr val="222B36"/>
                </a:solidFill>
                <a:latin typeface="Calibri"/>
              </a:rPr>
              <a:t>6,258 / 782 / 783
0% scaffold overlap
Seed = 42</a:t>
            </a:r>
          </a:p>
        </p:txBody>
      </p:sp>
      <p:sp>
        <p:nvSpPr>
          <p:cNvPr id="21" name="Chevron 20"/>
          <p:cNvSpPr/>
          <p:nvPr/>
        </p:nvSpPr>
        <p:spPr>
          <a:xfrm>
            <a:off x="6949440" y="1691640"/>
            <a:ext cx="1463040" cy="960120"/>
          </a:xfrm>
          <a:prstGeom prst="chevron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16916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59" y="288036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79" y="297180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 i="0">
                <a:solidFill>
                  <a:srgbClr val="222B36"/>
                </a:solidFill>
                <a:latin typeface="Calibri"/>
              </a:rPr>
              <a:t>LR · RF · XGBoost
Per-endpoint task
NaNs masked out</a:t>
            </a:r>
          </a:p>
        </p:txBody>
      </p:sp>
      <p:sp>
        <p:nvSpPr>
          <p:cNvPr id="25" name="Chevron 24"/>
          <p:cNvSpPr/>
          <p:nvPr/>
        </p:nvSpPr>
        <p:spPr>
          <a:xfrm>
            <a:off x="8549640" y="1691640"/>
            <a:ext cx="1463040" cy="960120"/>
          </a:xfrm>
          <a:prstGeom prst="chevron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6916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Threshold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288036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297180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 i="0">
                <a:solidFill>
                  <a:srgbClr val="222B36"/>
                </a:solidFill>
                <a:latin typeface="Calibri"/>
              </a:rPr>
              <a:t>Optimize tau on
Validation split
Maximize F1</a:t>
            </a:r>
          </a:p>
        </p:txBody>
      </p:sp>
      <p:sp>
        <p:nvSpPr>
          <p:cNvPr id="29" name="Chevron 28"/>
          <p:cNvSpPr/>
          <p:nvPr/>
        </p:nvSpPr>
        <p:spPr>
          <a:xfrm>
            <a:off x="10149840" y="1691640"/>
            <a:ext cx="1463040" cy="960120"/>
          </a:xfrm>
          <a:prstGeom prst="chevron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1691640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 Eval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5560" y="2880360"/>
            <a:ext cx="1371600" cy="17373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297180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 i="0">
                <a:solidFill>
                  <a:srgbClr val="222B36"/>
                </a:solidFill>
                <a:latin typeface="Calibri"/>
              </a:rPr>
              <a:t>ROC-AUC · PR-AUC
Macro mean +/- SEM
Over 12 endpoints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37760"/>
            <a:ext cx="106070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Key Scientific Guarantees to Avoid Data Leakage:
</a:t>
            </a:r>
          </a:p>
          <a:p>
            <a:pPr algn="l"/>
            <a:r>
              <a:rPr sz="1400" b="1" i="0">
                <a:solidFill>
                  <a:srgbClr val="0072B2"/>
                </a:solidFill>
                <a:latin typeface="Calibri"/>
              </a:rPr>
              <a:t>1. Scaling Isolation: 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Descriptor scalers fitted ONLY on 6,258 training rows, frozen for validation/test.
</a:t>
            </a:r>
          </a:p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2. Decision Thresholds: 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Thresholds tuned strictly on Validation F1; Test labels remain completely untouched.
</a:t>
            </a:r>
          </a:p>
          <a:p>
            <a:pPr algn="l"/>
            <a:r>
              <a:rPr sz="1400" b="1" i="0">
                <a:solidFill>
                  <a:srgbClr val="D55E00"/>
                </a:solidFill>
                <a:latin typeface="Calibri"/>
              </a:rPr>
              <a:t>3. Unimputed Labels: 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Untested compounds kept as NaNs; never falsely assumed negative.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Feature Engineering: Morgan Circular Fingerprints (ECFP4)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Student 2 Module — Encoding local chemical sub-environments into 2,048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1828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C6773"/>
                </a:solidFill>
                <a:latin typeface="Calibri"/>
              </a:rPr>
              <a:t>Radius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mbria"/>
              </a:rPr>
              <a:t>Step 0: Atom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222B36"/>
                </a:solidFill>
                <a:latin typeface="Calibri"/>
              </a:rPr>
              <a:t>Each heavy atom hashed based on atomic number, charge, valence degree, and aromaticity.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087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47872" y="169164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691640"/>
            <a:ext cx="1828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C6773"/>
                </a:solidFill>
                <a:latin typeface="Calibri"/>
              </a:rPr>
              <a:t>Radius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mbria"/>
              </a:rPr>
              <a:t>Step 1: 1-Bond Neighborhood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74320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222B36"/>
                </a:solidFill>
                <a:latin typeface="Calibri"/>
              </a:rPr>
              <a:t>Each atom gathers its immediate bonded neighbors and bond orders (single, double, aromatic).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087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64224" y="1691640"/>
            <a:ext cx="457200" cy="457200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691640"/>
            <a:ext cx="1828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C6773"/>
                </a:solidFill>
                <a:latin typeface="Calibri"/>
              </a:rPr>
              <a:t>Radius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mbria"/>
              </a:rPr>
              <a:t>Step 2: 2-Bond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74320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222B36"/>
                </a:solidFill>
                <a:latin typeface="Calibri"/>
              </a:rPr>
              <a:t>Gathers 2-bond subgraphs, capturing rings, carbonyls, esters, and functional groups.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5087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0576" y="1691640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9216" y="1691640"/>
            <a:ext cx="1828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5C6773"/>
                </a:solidFill>
                <a:latin typeface="Calibri"/>
              </a:rPr>
              <a:t>Modulo 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19456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mbria"/>
              </a:rPr>
              <a:t>Step 3: Bit Folding (2048)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74320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222B36"/>
                </a:solidFill>
                <a:latin typeface="Calibri"/>
              </a:rPr>
              <a:t>Hashes mapped into fixed 2,048-bit binary vector (1 = present, 0 = absent). uint8 encoding.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110642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Cambria"/>
              </a:rPr>
              <a:t>Concrete Example: Aspirin (Acetylsalicylic Acid — CC(=O)Oc1ccccc1C(=O)O)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22B36"/>
                </a:solidFill>
                <a:latin typeface="Calibri"/>
              </a:rPr>
              <a:t>• SMILES representation: 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Parsed by RDKit into a molecular graph of 13 heavy atoms and 13 bonds.
</a:t>
            </a:r>
          </a:p>
          <a:p>
            <a:pPr algn="l"/>
            <a:r>
              <a:rPr sz="1400" b="1" i="0">
                <a:solidFill>
                  <a:srgbClr val="222B36"/>
                </a:solidFill>
                <a:latin typeface="Calibri"/>
              </a:rPr>
              <a:t>• Circular hashing: 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Carboxyl group (–COOH) hashes at radius 1; benzene ring atoms hash circular environments up to radius 2.
</a:t>
            </a:r>
          </a:p>
          <a:p>
            <a:pPr algn="l"/>
            <a:r>
              <a:rPr sz="1400" b="1" i="0">
                <a:solidFill>
                  <a:srgbClr val="222B36"/>
                </a:solidFill>
                <a:latin typeface="Calibri"/>
              </a:rPr>
              <a:t>• Bit activation: 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Aspirin activates exactly </a:t>
            </a:r>
            <a:r>
              <a:rPr sz="1400" b="1" i="0">
                <a:solidFill>
                  <a:srgbClr val="0072B2"/>
                </a:solidFill>
                <a:latin typeface="Calibri"/>
              </a:rPr>
              <a:t>58 out of 2,048 bits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(the remaining 1,990 bits are 0).
</a:t>
            </a:r>
          </a:p>
          <a:p>
            <a:pPr algn="l"/>
            <a:r>
              <a:rPr sz="1400" b="1" i="0">
                <a:solidFill>
                  <a:srgbClr val="222B36"/>
                </a:solidFill>
                <a:latin typeface="Calibri"/>
              </a:rPr>
              <a:t>• Dataset-wide properties: 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Across all 7,823 molecules, Morgan matrix is </a:t>
            </a:r>
            <a:r>
              <a:rPr sz="1400" b="1" i="0">
                <a:solidFill>
                  <a:srgbClr val="D55E00"/>
                </a:solidFill>
                <a:latin typeface="Calibri"/>
              </a:rPr>
              <a:t>97.2% sparse (zeros)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, with an average of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56.7 ± 23.4 active bits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per compound.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Feature Engineering: 9 Physicochemical Descriptors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Student 2 Module — Interpretable continuous physical &amp; chemical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1280160"/>
                <a:gridCol w="2651760"/>
                <a:gridCol w="27432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Descriptor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RDKit Function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Aspirin Value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Scientific Definition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Toxicological Relevance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Molecular Weight (MW)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Descriptors.MolWt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180.16 g/mol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Total mass of all constituent atoms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Cell membrane permeability (Lipinski Rule &lt; 500)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LogP (Octanol-Water)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Descriptors.MolLogP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1.31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Octanol/water partition coefficient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Lipophilicity; tissue penetration &amp; bioaccumulation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TPSA (Polar Surface Area)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rdMolDescriptors.CalcTPSA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63.60 Å²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Surface area of polar atoms (N, O, 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Oral bioavailability &amp; blood-brain barrier transport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H-Bond Donors (HBD)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Descriptors.NumHDonors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Count of –OH and –NH hydrogen donors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Receptor binding affinity and aqueous solubility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H-Bond Acceptors (HBA)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Descriptors.NumHAcceptors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Count of N and O atoms with lone pairs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Hydrogen-bonding network in target binding sites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Rotatable Bonds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Descriptors.NumRotatableBonds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Freely rotating single non-ring bonds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Conformational flexibility (rigidity aids binding)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Ring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Descriptors.RingCount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Count of aromatic / aliphatic rings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Molecular stiffness and scaffold classification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Heavy Atom Count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Descriptors.HeavyAtomCount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Total non-hydrogen atoms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Overall molecular bulk and steric hindrance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Fraction sp³ Carbons (Fsp³)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rdMolDescriptors.CalcFractionCSP3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Ratio of sp³ carbons to total carbons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3D molecular shape complexity vs flat aromaticity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Combined Feature Matrix: Synergistic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Student 2 Module — Concatenating local topology and global physicochemical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2926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200" b="1" i="0">
                <a:solidFill>
                  <a:srgbClr val="0072B2"/>
                </a:solidFill>
                <a:latin typeface="Cambria"/>
              </a:rPr>
              <a:t>2,048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feature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B2A41"/>
                </a:solidFill>
                <a:latin typeface="Cambria"/>
              </a:rPr>
              <a:t>Morgan Fingerprints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29000"/>
            <a:ext cx="301752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Captures local fragments &amp; functional groups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Binary {0, 1} encoding, 97.2% sparse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Unscaled, uint8 format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Test ROC-AUC (RF): 0.7208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474720" cy="4572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645920"/>
            <a:ext cx="2926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200" b="1" i="0">
                <a:solidFill>
                  <a:srgbClr val="E69F00"/>
                </a:solidFill>
                <a:latin typeface="Cambria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4231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feature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78892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B2A41"/>
                </a:solidFill>
                <a:latin typeface="Cambria"/>
              </a:rPr>
              <a:t>Physicochemical Descriptors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429000"/>
            <a:ext cx="301752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Captures macroscopic bulk properties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Continuous floating-point values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Standardized on Train split only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Test ROC-AUC (RF): 0.7215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474720" cy="4572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2926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200" b="1" i="0">
                <a:solidFill>
                  <a:srgbClr val="009E73"/>
                </a:solidFill>
                <a:latin typeface="Cambria"/>
              </a:rPr>
              <a:t>2,057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feature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8892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1B2A41"/>
                </a:solidFill>
                <a:latin typeface="Cambria"/>
              </a:rPr>
              <a:t>Combined Representation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29000"/>
            <a:ext cx="301752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Horizontal concatenation: [Morgan || Descriptors]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Combines local motifs + global properties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Descriptors scaled; Morgan bits unscaled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 b="0">
                <a:solidFill>
                  <a:srgbClr val="222B36"/>
                </a:solidFill>
                <a:latin typeface="Calibri"/>
              </a:rPr>
              <a:t>Test ROC-AUC (RF): 0.7488 (+0.028 boost!)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Bemis–Murcko Scaffold Splitting: Preventing 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Student 2 Module — Out-of-distribution evaluation on structurally unseen chemical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2C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017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Train Partition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6,258 molecules (79.99%)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AEEF3"/>
                </a:solidFill>
                <a:latin typeface="Calibri"/>
              </a:rPr>
              <a:t>760 core scaffolds
(+ 1,775 acyclic molecules)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600200"/>
            <a:ext cx="3017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Validation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782 molecules (10.00%)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42316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AEEF3"/>
                </a:solidFill>
                <a:latin typeface="Calibri"/>
              </a:rPr>
              <a:t>782 singleton scaffolds
Used ONLY for threshold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00200"/>
            <a:ext cx="3017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Test Partition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920240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783 molecules (10.01%)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42316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AEEF3"/>
                </a:solidFill>
                <a:latin typeface="Calibri"/>
              </a:rPr>
              <a:t>783 singleton scaffolds
Evaluated out-of-sample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3474720" cy="883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 i="0">
                <a:solidFill>
                  <a:srgbClr val="009E73"/>
                </a:solidFill>
                <a:latin typeface="Cambria"/>
              </a:rP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21480"/>
            <a:ext cx="3474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C6773"/>
                </a:solidFill>
                <a:latin typeface="Calibri"/>
              </a:rPr>
              <a:t>Scaffolds shared between Train, Val, &amp; Test
(Strict Zero Scaffold Overlap)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337560"/>
            <a:ext cx="7406640" cy="2834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Calibri"/>
              </a:rPr>
              <a:t>Why Random Split Fails: 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Medicinal chemistry datasets contain analog series (same core ring with varying side chains). Random splits put analogs in both train and test, allowing models to cheat by memorizing known scaffolds.
</a:t>
            </a:r>
          </a:p>
          <a:p>
            <a:pPr algn="l"/>
            <a:r>
              <a:rPr sz="1500" b="1" i="0">
                <a:solidFill>
                  <a:srgbClr val="0072B2"/>
                </a:solidFill>
                <a:latin typeface="Calibri"/>
              </a:rPr>
              <a:t>How Bemis–Murcko Works: 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RDKit strips all side chains, retaining only ring systems and linkers. (Aspirin's scaffold is simply a benzene ring: </a:t>
            </a:r>
            <a:r>
              <a:rPr sz="1500" b="1" i="0">
                <a:solidFill>
                  <a:srgbClr val="222B36"/>
                </a:solidFill>
                <a:latin typeface="Courier"/>
              </a:rPr>
              <a:t>c1ccccc1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). Molecules with identical scaffolds are assigned together.
</a:t>
            </a:r>
          </a:p>
          <a:p>
            <a:pPr algn="l"/>
            <a:r>
              <a:rPr sz="1500" b="1" i="0">
                <a:solidFill>
                  <a:srgbClr val="009E73"/>
                </a:solidFill>
                <a:latin typeface="Calibri"/>
              </a:rPr>
              <a:t>Rigorous Scientific Standard: 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Validation and test sets contain only distinct singleton scaffolds, ensuring models are tested on true prospective generalisation.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Classical Machine Learning Models &amp; Multi-Task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Student 3 Module — Benchmarking Linear, Bagging, and Boosting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474720"/>
                <a:gridCol w="329184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 Family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Algorithm &amp; Implementation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Hyperparameters (Fixed, Audited)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 Imbalance Strategy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Linear 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Logistic Regression
(sklearn)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penalty='l2', C=1.0, solver='lbfgs', max_iter=1000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class_weight='balanced'
(Weights inversely prop. to frequency)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Bagging Ensemble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Random Forest
(sklearn)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n_estimators=100, max_depth=12, min_samples_split=5, n_jobs=-1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class_weight='balanced'
(Reweights each bootstrap sample)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XGBoost Classifier
(xgboost library)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n_estimators=100, max_depth=5, learning_rate=0.1, eval_metric='logloss'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scale_pos_weight = N_neg / N_pos
(Computed per endpoint from training set)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2628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0916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mbria"/>
              </a:rPr>
              <a:t>12 Independent Classifiers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3108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222B36"/>
                </a:solidFill>
                <a:latin typeface="Calibri"/>
              </a:rPr>
              <a:t>Tox21 has 12 distinct targets. We train 12 binary classifiers per algorithm (36 models per feature set).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452628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59" y="4709160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199" y="470916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mbria"/>
              </a:rPr>
              <a:t>Missing Assay Label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5257800"/>
            <a:ext cx="3108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222B36"/>
                </a:solidFill>
                <a:latin typeface="Calibri"/>
              </a:rPr>
              <a:t>Molecules untested for endpoint k (NaN) are masked out from loss calculation, preventing false negative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452628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9" y="4709160"/>
            <a:ext cx="457200" cy="457200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70916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mbria"/>
              </a:rPr>
              <a:t>Deterministic Reproducibility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5257800"/>
            <a:ext cx="3108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222B36"/>
                </a:solidFill>
                <a:latin typeface="Calibri"/>
              </a:rPr>
              <a:t>Random seed = 42 fixed across all data splits, bootstrap resamples, and model initializations.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Evaluation Protocol: Metric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Student 4 Module — Why simple accuracy is rejected under extreme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D55E00"/>
                </a:solidFill>
                <a:latin typeface="Calibri"/>
              </a:rPr>
              <a:t>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B2A41"/>
                </a:solidFill>
                <a:latin typeface="Cambria"/>
              </a:rPr>
              <a:t>Accuracy is Deceptive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222B36"/>
                </a:solidFill>
                <a:latin typeface="Calibri"/>
              </a:rPr>
              <a:t>With positive prevalence as low as 1.87% (NR-PPAR-gamma), a naive classifier predicting 'non-toxic' for all molecules achieves 98.1% accuracy while catching zero toxic compounds.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0876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47872" y="169164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6916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Calibri"/>
              </a:rPr>
              <a:t>PRIMARY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19456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B2A41"/>
                </a:solidFill>
                <a:latin typeface="Cambria"/>
              </a:rPr>
              <a:t>ROC-AUC (Area Under ROC)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2608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222B36"/>
                </a:solidFill>
                <a:latin typeface="Calibri"/>
              </a:rPr>
              <a:t>Measures the probability of ranking a toxic molecule higher than a non-toxic one across all possible thresholds. Prevalence-invariant; baseline is 0.50 (random coin flip).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0876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64224" y="1691640"/>
            <a:ext cx="457200" cy="457200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6916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Calibri"/>
              </a:rPr>
              <a:t>CRUCIAL FOR MINORITY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19456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B2A41"/>
                </a:solidFill>
                <a:latin typeface="Cambria"/>
              </a:rPr>
              <a:t>PR-AUC (Average Precision)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92608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222B36"/>
                </a:solidFill>
                <a:latin typeface="Calibri"/>
              </a:rPr>
              <a:t>Precision vs. Recall curve. Completely ignores True Negatives, focusing strictly on toxic compounds. Random baseline equals positive prevalence (0.02 - 0.16).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508760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0576" y="1691640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9216" y="16916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E69F00"/>
                </a:solidFill>
                <a:latin typeface="Calibri"/>
              </a:rPr>
              <a:t>OPTIMAL CUTOFF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19456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B2A41"/>
                </a:solidFill>
                <a:latin typeface="Cambria"/>
              </a:rPr>
              <a:t>Validation Threshold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926080"/>
            <a:ext cx="23317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222B36"/>
                </a:solidFill>
                <a:latin typeface="Calibri"/>
              </a:rPr>
              <a:t>Default 0.5 cutoff fails on rare classes. We tuned tau in [0.05, 0.95] on Validation F1, then froze tau for Test evaluation (zero test snooping).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8FD3BE"/>
                </a:solidFill>
                <a:latin typeface="Calibri"/>
              </a:rPr>
              <a:t>Statistical Reporting Standard:  </a:t>
            </a:r>
          </a:p>
          <a:p>
            <a:pPr algn="l"/>
            <a:r>
              <a:rPr sz="1400" b="0" i="0">
                <a:solidFill>
                  <a:srgbClr val="222B36"/>
                </a:solidFill>
                <a:latin typeface="Calibri"/>
              </a:rPr>
              <a:t>All macro metrics reported as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Mean ± SEM (K=12 endpoints)</a:t>
            </a:r>
            <a:r>
              <a:rPr sz="1400" b="0" i="0">
                <a:solidFill>
                  <a:srgbClr val="CAD5E2"/>
                </a:solidFill>
                <a:latin typeface="Calibri"/>
              </a:rPr>
              <a:t>, where SEM = SD / sqrt(12). Single-class partition slices gracefully yield NaN rather than false zeros.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Benchmark Results: All 9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Out-of-sample evaluation on unseen test scaffolds (N = 783 compounds)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194560"/>
                <a:gridCol w="2103120"/>
                <a:gridCol w="1097280"/>
                <a:gridCol w="109728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 Architecture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 Representation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ROC-AUC (Mean ± SEM)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PR-AUC (Mean ± SEM)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Macro F1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Morgan (2,048 bits)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0.6987 ± 0.0149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0.2602 ± 0.0341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0.6216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 (9 continuous)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0.7203 ± 0.0169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0.1968 ± 0.0397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0.2472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0.6188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Combined (2,057 dims)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0.7138 ± 0.0158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0.2341 ± 0.0338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0.3159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0.6404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Morgan (2,048 bits)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0.7208 ± 0.0199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0.3458 ± 0.0316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0.3712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0.6475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 (9 continuous)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0.7215 ± 0.0216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0.2901 ± 0.0408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0.3036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0.6337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Random Forest (BEST 🏆)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Combined (2,057 dims)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0.7488 ± 0.0181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0.3891 ± 0.0320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0.3781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B36"/>
                          </a:solidFill>
                          <a:latin typeface="Calibri"/>
                        </a:rPr>
                        <a:t>0.6636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XGBoost Classifier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Morgan (2,048 bits)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0.7114 ± 0.0181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0.3027 ± 0.0308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0.3351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0.6340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XGBoost Classifier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Descriptors (9 continuous)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0.7024 ± 0.0256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0.2911 ± 0.0454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0.3133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0.6394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XGBoost Classifier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Combined (2,057 dims)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0.7456 ± 0.0179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0.3495 ± 0.0406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0.3591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0.6485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009E73"/>
                </a:solidFill>
                <a:latin typeface="Calibri"/>
              </a:rPr>
              <a:t>Key Takeaway: Random Forest on Combined Features achieves the highest Test ROC-AUC (0.7488), PR-AUC (0.3891), and Balanced Accuracy (0.6636).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Benchmark Comparison: Feature Synergies in Tree Ensembles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Combined representations outperform single feature sets across tree-based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25880"/>
          <a:ext cx="544068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72200" y="1325880"/>
          <a:ext cx="5440680" cy="4892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Endpoint Error Diagnostics: Pathway Difficulty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Per-endpoint performance of Champion Model (Random Forest on Combined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383280" cy="7188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009E73"/>
                </a:solidFill>
                <a:latin typeface="Cambria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3614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C6773"/>
                </a:solidFill>
                <a:latin typeface="Calibri"/>
              </a:rPr>
              <a:t>Endpoints where Combined features beat
Morgan-only 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3383280" cy="7188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E69F00"/>
                </a:solidFill>
                <a:latin typeface="Cambria"/>
              </a:rPr>
              <a:t>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9062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C6773"/>
                </a:solidFill>
                <a:latin typeface="Calibri"/>
              </a:rPr>
              <a:t>Endpoints where Random Forest beats
XGBoost (effectively a tie)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383280" cy="7188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 i="0">
                <a:solidFill>
                  <a:srgbClr val="0072B2"/>
                </a:solidFill>
                <a:latin typeface="Cambria"/>
              </a:rPr>
              <a:t>1.7–19×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4510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C6773"/>
                </a:solidFill>
                <a:latin typeface="Calibri"/>
              </a:rPr>
              <a:t>PR-AUC improvement over random
baseline (prevalence) across all assays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0" y="132588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 wrap="square" anchor="ctr" lIns="0" rIns="0"/>
          <a:lstStyle/>
          <a:p>
            <a:pPr algn="l"/>
            <a:r>
              <a:rPr sz="3000" b="1">
                <a:solidFill>
                  <a:srgbClr val="1B2A41"/>
                </a:solidFill>
                <a:latin typeface="Cambria"/>
              </a:rPr>
              <a:t>Key Scientific Literature &amp; Practical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5C6773"/>
                </a:solidFill>
                <a:latin typeface="Calibri"/>
              </a:rPr>
              <a:t>Core published foundations that guided our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5C6773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572000"/>
                <a:gridCol w="393192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Foundational Study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Published Finding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Direct Takeaway for Our Project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Tox21 Challenge (Huang et al., 2016)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Winner models achieved ROC-AUC 0.81–0.95 on challenge test set; AR assays were hardest (~0.70).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Established the standard 12-assay benchmark and identified intrinsic biological difficulty.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DeepTox (Mayr et al., 2016)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Multi-task Deep Neural Network won Tox21; Random Forest and SVM were strong close baselines.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Confirmed that Random Forest is a formidable baseline that must be thoroughly evaluated.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MoleculeNet (Wu et al., 2018)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Demonstrated that scaffold splitting is significantly harder than random splitting.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Adopted scaffold splitting to avoid overly optimistic, unrealistic performance metrics.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Bemis &amp; Murcko (1996)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Decomposed molecules into ring systems and linkers to define core chemical scaffolds.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Used to implement zero-overlap scaffold clustering across Train, Val, and Test.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Rogers &amp; Hahn (2010)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Extended Connectivity Fingerprints (ECFP): circular topological hashing for QSAR modeling.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Guided our choice of Morgan circular fingerprints (radius 2, ECFP4, 2048 bits).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Saito &amp; Rehmsmeier (2015)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Precision-Recall curves are more informative and sensitive than ROC curves under class imbalance.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Mandated PR-AUC alongside ROC-AUC to prevent false sense of security from True Negatives.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Conclusion &amp; Phase 2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Rigorous, Leak-Free Benchmark Established:  </a:t>
            </a:r>
            <a:r>
              <a:rPr sz="1600" b="0" i="0">
                <a:solidFill>
                  <a:srgbClr val="CAD5E2"/>
                </a:solidFill>
                <a:latin typeface="Calibri"/>
              </a:rPr>
              <a:t>Verified 7,823 molecules, 0% scaffold overlap split, train-only scaling, validation-only thresholds.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23159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39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Champion Classical Model:  </a:t>
            </a:r>
            <a:r>
              <a:rPr sz="1600" b="0" i="0">
                <a:solidFill>
                  <a:srgbClr val="CAD5E2"/>
                </a:solidFill>
                <a:latin typeface="Calibri"/>
              </a:rPr>
              <a:t>Random Forest on Combined features achieved Test ROC-AUC = 0.7488 and PR-AUC = 0.3891.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91839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Confirmed Feature Synergy:  </a:t>
            </a:r>
            <a:r>
              <a:rPr sz="1600" b="0" i="0">
                <a:solidFill>
                  <a:srgbClr val="CAD5E2"/>
                </a:solidFill>
                <a:latin typeface="Calibri"/>
              </a:rPr>
              <a:t>Combining 2,048 Morgan bits with 9 descriptors boosted performance across 11 of 12 endpoints (+0.028 ROC-AUC).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Extreme Imbalance Dynamics Audited:  </a:t>
            </a:r>
            <a:r>
              <a:rPr sz="1600" b="0" i="0">
                <a:solidFill>
                  <a:srgbClr val="CAD5E2"/>
                </a:solidFill>
                <a:latin typeface="Calibri"/>
              </a:rPr>
              <a:t>PR-AUC correlated strongly with positive prevalence (r = +0.52); ROC-AUC remained prevalence-invariant (r = +0.22).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2C3E5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66360"/>
            <a:ext cx="10241280" cy="1051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8FD3BE"/>
                </a:solidFill>
                <a:latin typeface="Calibri"/>
              </a:rPr>
              <a:t>Looking Ahead — Phase 2 Graph Neural Networks (GNNs):
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• Direct Molecular Graph Learning: </a:t>
            </a:r>
            <a:r>
              <a:rPr sz="1400" b="0" i="0">
                <a:solidFill>
                  <a:srgbClr val="CAD5E2"/>
                </a:solidFill>
                <a:latin typeface="Calibri"/>
              </a:rPr>
              <a:t>Implement GCN, GAT, and GIN architectures directly on atom feature vectors and adjacency matrices.
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• Benchmark Goal: </a:t>
            </a:r>
            <a:r>
              <a:rPr sz="1400" b="0" i="0">
                <a:solidFill>
                  <a:srgbClr val="CAD5E2"/>
                </a:solidFill>
                <a:latin typeface="Calibri"/>
              </a:rPr>
              <a:t>Determine whether deep relational graph models can surpass our classical Random Forest benchmark (ROC-AUC 0.7488) on unseen scaffolds.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0" i="0">
                <a:solidFill>
                  <a:srgbClr val="8FD3BE"/>
                </a:solidFill>
                <a:latin typeface="Cambria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0" i="1">
                <a:solidFill>
                  <a:srgbClr val="CAD5E2"/>
                </a:solidFill>
                <a:latin typeface="Calibri"/>
              </a:rPr>
              <a:t>Molecular Toxicity Prediction via Chemical Fingerprints and Molecular Graph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0">
                <a:solidFill>
                  <a:srgbClr val="9AA4AF"/>
                </a:solidFill>
                <a:latin typeface="Calibri"/>
              </a:rPr>
              <a:t>Fully reproducible code, audit logs, and test suite (122 / 122 tests passed)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Toxicity Prediction — Phase 1 Final Presentation</dc:title>
  <dc:subject/>
  <dc:creator>Project 8 Team (Amogha, Bulbul, Shourya, Kanishka, Aditya)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