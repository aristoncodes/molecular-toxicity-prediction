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t>Positive prevalence per endpoint (%)</a:t>
            </a:r>
          </a:p>
        </c:rich>
      </c:tx>
      <c:layout/>
      <c:overlay val="0"/>
    </c:title>
    <c:autoTitleDeleted val="0"/>
    <c:plotArea>
      <c:barChart>
        <c:barDir val="col"/>
        <c:grouping val="clustered"/>
        <c:ser>
          <c:idx val="0"/>
          <c:order val="0"/>
          <c:tx>
            <c:strRef>
              <c:f>Sheet1!$B$1</c:f>
              <c:strCache>
                <c:ptCount val="1"/>
                <c:pt idx="0">
                  <c:v>Active (% of labelled)</c:v>
                </c:pt>
              </c:strCache>
            </c:strRef>
          </c:tx>
          <c:spPr>
            <a:solidFill>
              <a:srgbClr val="D55E00"/>
            </a:solidFill>
          </c:spPr>
          <c:cat>
            <c:strRef>
              <c:f>Sheet1!$A$2:$A$13</c:f>
              <c:strCache>
                <c:ptCount val="12"/>
                <c:pt idx="0">
                  <c:v>NR-AR</c:v>
                </c:pt>
                <c:pt idx="1">
                  <c:v>NR-AR-LBD</c:v>
                </c:pt>
                <c:pt idx="2">
                  <c:v>NR-AhR</c:v>
                </c:pt>
                <c:pt idx="3">
                  <c:v>NR-Aromatase</c:v>
                </c:pt>
                <c:pt idx="4">
                  <c:v>NR-ER</c:v>
                </c:pt>
                <c:pt idx="5">
                  <c:v>NR-ER-LBD</c:v>
                </c:pt>
                <c:pt idx="6">
                  <c:v>NR-PPAR-gamma</c:v>
                </c:pt>
                <c:pt idx="7">
                  <c:v>SR-ARE</c:v>
                </c:pt>
                <c:pt idx="8">
                  <c:v>SR-ATAD5</c:v>
                </c:pt>
                <c:pt idx="9">
                  <c:v>SR-HSE</c:v>
                </c:pt>
                <c:pt idx="10">
                  <c:v>SR-MMP</c:v>
                </c:pt>
                <c:pt idx="11">
                  <c:v>SR-p53</c:v>
                </c:pt>
              </c:strCache>
            </c:strRef>
          </c:cat>
          <c:val>
            <c:numRef>
              <c:f>Sheet1!$B$2:$B$13</c:f>
              <c:numCache>
                <c:formatCode>General</c:formatCode>
                <c:ptCount val="12"/>
                <c:pt idx="0">
                  <c:v>4.24</c:v>
                </c:pt>
                <c:pt idx="1">
                  <c:v>3.51</c:v>
                </c:pt>
                <c:pt idx="2">
                  <c:v>11.74</c:v>
                </c:pt>
                <c:pt idx="3">
                  <c:v>5.16</c:v>
                </c:pt>
                <c:pt idx="4">
                  <c:v>12.79</c:v>
                </c:pt>
                <c:pt idx="5">
                  <c:v>5.02</c:v>
                </c:pt>
                <c:pt idx="6">
                  <c:v>2.89</c:v>
                </c:pt>
                <c:pt idx="7">
                  <c:v>16.17</c:v>
                </c:pt>
                <c:pt idx="8">
                  <c:v>3.74</c:v>
                </c:pt>
                <c:pt idx="9">
                  <c:v>5.76</c:v>
                </c:pt>
                <c:pt idx="10">
                  <c:v>15.82</c:v>
                </c:pt>
                <c:pt idx="11">
                  <c:v>6.25</c:v>
                </c:pt>
              </c:numCache>
            </c:numRef>
          </c:val>
        </c:ser>
        <c:dLbls>
          <c:numFmt formatCode="0.0"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AA4AF"/>
            </a:solidFill>
          </a:ln>
        </c:spPr>
        <c:txPr>
          <a:bodyPr/>
          <a:lstStyle/>
          <a:p>
            <a:pPr>
              <a:defRPr sz="1100">
                <a:solidFill>
                  <a:srgbClr val="222B36"/>
                </a:solidFill>
              </a:defRPr>
            </a:pPr>
          </a:p>
        </c:txPr>
        <c:crossAx val="-2113994440"/>
        <c:crosses val="autoZero"/>
        <c:auto val="1"/>
        <c:lblAlgn val="ctr"/>
        <c:lblOffset val="100"/>
        <c:noMultiLvlLbl val="0"/>
      </c:catAx>
      <c:valAx>
        <c:axId val="-2113994440"/>
        <c:scaling>
          <c:max val="20.0"/>
        </c:scaling>
        <c:delete/>
        <c:axPos val="l"/>
        <c:majorTickMark val="out"/>
        <c:minorTickMark val="none"/>
        <c:tickLblPos val="nextTo"/>
        <c:spPr>
          <a:ln>
            <a:noFill/>
          </a:ln>
        </c:spPr>
        <c:txPr>
          <a:bodyPr/>
          <a:lstStyle/>
          <a:p>
            <a:pPr>
              <a:defRPr sz="1200">
                <a:solidFill>
                  <a:srgbClr val="5C6773"/>
                </a:solidFill>
              </a:defRPr>
            </a:pPr>
          </a:p>
        </c:txPr>
        <c:crossAx val="-2068027336"/>
        <c:crosses val="autoZero"/>
      </c:valAx>
    </c:plotArea>
    <c:dispBlanksAs val="gap"/>
  </c:chart>
  <c:txPr>
    <a:bodyPr/>
    <a:lstStyle/>
    <a:p>
      <a:pPr>
        <a:defRPr sz="1200">
          <a:solidFill>
            <a:srgbClr val="222B36"/>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a:t>Test macro ROC-AUC</a:t>
            </a:r>
          </a:p>
        </c:rich>
      </c:tx>
      <c:layout/>
      <c:overlay val="0"/>
    </c:title>
    <c:autoTitleDeleted val="0"/>
    <c:plotArea>
      <c:barChart>
        <c:barDir val="col"/>
        <c:grouping val="clustered"/>
        <c:ser>
          <c:idx val="0"/>
          <c:order val="0"/>
          <c:tx>
            <c:strRef>
              <c:f>Sheet1!$B$1</c:f>
              <c:strCache>
                <c:ptCount val="1"/>
                <c:pt idx="0">
                  <c:v>Morgan</c:v>
                </c:pt>
              </c:strCache>
            </c:strRef>
          </c:tx>
          <c:spPr>
            <a:solidFill>
              <a:srgbClr val="0072B2"/>
            </a:solidFill>
          </c:spPr>
          <c:cat>
            <c:strRef>
              <c:f>Sheet1!$A$2:$A$4</c:f>
              <c:strCache>
                <c:ptCount val="3"/>
                <c:pt idx="0">
                  <c:v>Logistic Reg.</c:v>
                </c:pt>
                <c:pt idx="1">
                  <c:v>Random Forest</c:v>
                </c:pt>
                <c:pt idx="2">
                  <c:v>XGBoost</c:v>
                </c:pt>
              </c:strCache>
            </c:strRef>
          </c:cat>
          <c:val>
            <c:numRef>
              <c:f>Sheet1!$B$2:$B$4</c:f>
              <c:numCache>
                <c:formatCode>General</c:formatCode>
                <c:ptCount val="3"/>
                <c:pt idx="0">
                  <c:v>0.6986974288127379</c:v>
                </c:pt>
                <c:pt idx="1">
                  <c:v>0.7207928648528075</c:v>
                </c:pt>
                <c:pt idx="2">
                  <c:v>0.711399356098784</c:v>
                </c:pt>
              </c:numCache>
            </c:numRef>
          </c:val>
        </c:ser>
        <c:ser>
          <c:idx val="1"/>
          <c:order val="1"/>
          <c:tx>
            <c:strRef>
              <c:f>Sheet1!$C$1</c:f>
              <c:strCache>
                <c:ptCount val="1"/>
                <c:pt idx="0">
                  <c:v>Descriptors</c:v>
                </c:pt>
              </c:strCache>
            </c:strRef>
          </c:tx>
          <c:spPr>
            <a:solidFill>
              <a:srgbClr val="E69F00"/>
            </a:solidFill>
          </c:spPr>
          <c:cat>
            <c:strRef>
              <c:f>Sheet1!$A$2:$A$4</c:f>
              <c:strCache>
                <c:ptCount val="3"/>
                <c:pt idx="0">
                  <c:v>Logistic Reg.</c:v>
                </c:pt>
                <c:pt idx="1">
                  <c:v>Random Forest</c:v>
                </c:pt>
                <c:pt idx="2">
                  <c:v>XGBoost</c:v>
                </c:pt>
              </c:strCache>
            </c:strRef>
          </c:cat>
          <c:val>
            <c:numRef>
              <c:f>Sheet1!$C$2:$C$4</c:f>
              <c:numCache>
                <c:formatCode>General</c:formatCode>
                <c:ptCount val="3"/>
                <c:pt idx="0">
                  <c:v>0.7203255241878851</c:v>
                </c:pt>
                <c:pt idx="1">
                  <c:v>0.7215181452348028</c:v>
                </c:pt>
                <c:pt idx="2">
                  <c:v>0.7023809811048615</c:v>
                </c:pt>
              </c:numCache>
            </c:numRef>
          </c:val>
        </c:ser>
        <c:ser>
          <c:idx val="2"/>
          <c:order val="2"/>
          <c:tx>
            <c:strRef>
              <c:f>Sheet1!$D$1</c:f>
              <c:strCache>
                <c:ptCount val="1"/>
                <c:pt idx="0">
                  <c:v>Combined</c:v>
                </c:pt>
              </c:strCache>
            </c:strRef>
          </c:tx>
          <c:spPr>
            <a:solidFill>
              <a:srgbClr val="009E73"/>
            </a:solidFill>
          </c:spPr>
          <c:cat>
            <c:strRef>
              <c:f>Sheet1!$A$2:$A$4</c:f>
              <c:strCache>
                <c:ptCount val="3"/>
                <c:pt idx="0">
                  <c:v>Logistic Reg.</c:v>
                </c:pt>
                <c:pt idx="1">
                  <c:v>Random Forest</c:v>
                </c:pt>
                <c:pt idx="2">
                  <c:v>XGBoost</c:v>
                </c:pt>
              </c:strCache>
            </c:strRef>
          </c:cat>
          <c:val>
            <c:numRef>
              <c:f>Sheet1!$D$2:$D$4</c:f>
              <c:numCache>
                <c:formatCode>General</c:formatCode>
                <c:ptCount val="3"/>
                <c:pt idx="0">
                  <c:v>0.7138232790201909</c:v>
                </c:pt>
                <c:pt idx="1">
                  <c:v>0.7487961050314101</c:v>
                </c:pt>
                <c:pt idx="2">
                  <c:v>0.7456137265821804</c:v>
                </c:pt>
              </c:numCache>
            </c:numRef>
          </c:val>
        </c:ser>
        <c:dLbls>
          <c:numFmt formatCode="0.000" sourceLinked="0"/>
          <c:txPr>
            <a:bodyPr/>
            <a:lstStyle/>
            <a:p>
              <a:pPr>
                <a:defRPr sz="10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9AA4AF"/>
            </a:solidFill>
          </a:ln>
        </c:spPr>
        <c:txPr>
          <a:bodyPr/>
          <a:lstStyle/>
          <a:p>
            <a:pPr>
              <a:defRPr sz="1200">
                <a:solidFill>
                  <a:srgbClr val="222B36"/>
                </a:solidFill>
              </a:defRPr>
            </a:pPr>
          </a:p>
        </c:txPr>
        <c:crossAx val="-2113994440"/>
        <c:crosses val="autoZero"/>
        <c:auto val="1"/>
        <c:lblAlgn val="ctr"/>
        <c:lblOffset val="100"/>
        <c:noMultiLvlLbl val="0"/>
      </c:catAx>
      <c:valAx>
        <c:axId val="-2113994440"/>
        <c:scaling>
          <c:max val="0.8"/>
          <c:min val="0.6"/>
        </c:scaling>
        <c:delete val="0"/>
        <c:axPos val="l"/>
        <c:majorGridlines>
          <c:spPr>
            <a:ln>
              <a:solidFill>
                <a:srgbClr val="D9DEE5"/>
              </a:solidFill>
            </a:ln>
          </c:spPr>
        </c:majorGridlines>
        <c:numFmt formatCode="0.00" sourceLinked="0"/>
        <c:majorTickMark val="out"/>
        <c:minorTickMark val="none"/>
        <c:tickLblPos val="nextTo"/>
        <c:spPr>
          <a:ln>
            <a:noFill/>
          </a:ln>
        </c:spPr>
        <c:txPr>
          <a:bodyPr/>
          <a:lstStyle/>
          <a:p>
            <a:pPr>
              <a:defRPr sz="1200">
                <a:solidFill>
                  <a:srgbClr val="5C6773"/>
                </a:solidFill>
              </a:defRPr>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222B36"/>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a:t>Test macro average precision</a:t>
            </a:r>
          </a:p>
        </c:rich>
      </c:tx>
      <c:layout/>
      <c:overlay val="0"/>
    </c:title>
    <c:autoTitleDeleted val="0"/>
    <c:plotArea>
      <c:barChart>
        <c:barDir val="col"/>
        <c:grouping val="clustered"/>
        <c:ser>
          <c:idx val="0"/>
          <c:order val="0"/>
          <c:tx>
            <c:strRef>
              <c:f>Sheet1!$B$1</c:f>
              <c:strCache>
                <c:ptCount val="1"/>
                <c:pt idx="0">
                  <c:v>Morgan</c:v>
                </c:pt>
              </c:strCache>
            </c:strRef>
          </c:tx>
          <c:spPr>
            <a:solidFill>
              <a:srgbClr val="0072B2"/>
            </a:solidFill>
          </c:spPr>
          <c:cat>
            <c:strRef>
              <c:f>Sheet1!$A$2:$A$4</c:f>
              <c:strCache>
                <c:ptCount val="3"/>
                <c:pt idx="0">
                  <c:v>Logistic Reg.</c:v>
                </c:pt>
                <c:pt idx="1">
                  <c:v>Random Forest</c:v>
                </c:pt>
                <c:pt idx="2">
                  <c:v>XGBoost</c:v>
                </c:pt>
              </c:strCache>
            </c:strRef>
          </c:cat>
          <c:val>
            <c:numRef>
              <c:f>Sheet1!$B$2:$B$4</c:f>
              <c:numCache>
                <c:formatCode>General</c:formatCode>
                <c:ptCount val="3"/>
                <c:pt idx="0">
                  <c:v>0.26019770150384397</c:v>
                </c:pt>
                <c:pt idx="1">
                  <c:v>0.34578705475756033</c:v>
                </c:pt>
                <c:pt idx="2">
                  <c:v>0.30269741838054776</c:v>
                </c:pt>
              </c:numCache>
            </c:numRef>
          </c:val>
        </c:ser>
        <c:ser>
          <c:idx val="1"/>
          <c:order val="1"/>
          <c:tx>
            <c:strRef>
              <c:f>Sheet1!$C$1</c:f>
              <c:strCache>
                <c:ptCount val="1"/>
                <c:pt idx="0">
                  <c:v>Descriptors</c:v>
                </c:pt>
              </c:strCache>
            </c:strRef>
          </c:tx>
          <c:spPr>
            <a:solidFill>
              <a:srgbClr val="E69F00"/>
            </a:solidFill>
          </c:spPr>
          <c:cat>
            <c:strRef>
              <c:f>Sheet1!$A$2:$A$4</c:f>
              <c:strCache>
                <c:ptCount val="3"/>
                <c:pt idx="0">
                  <c:v>Logistic Reg.</c:v>
                </c:pt>
                <c:pt idx="1">
                  <c:v>Random Forest</c:v>
                </c:pt>
                <c:pt idx="2">
                  <c:v>XGBoost</c:v>
                </c:pt>
              </c:strCache>
            </c:strRef>
          </c:cat>
          <c:val>
            <c:numRef>
              <c:f>Sheet1!$C$2:$C$4</c:f>
              <c:numCache>
                <c:formatCode>General</c:formatCode>
                <c:ptCount val="3"/>
                <c:pt idx="0">
                  <c:v>0.19678093810862504</c:v>
                </c:pt>
                <c:pt idx="1">
                  <c:v>0.2900693960693849</c:v>
                </c:pt>
                <c:pt idx="2">
                  <c:v>0.2911113954603743</c:v>
                </c:pt>
              </c:numCache>
            </c:numRef>
          </c:val>
        </c:ser>
        <c:ser>
          <c:idx val="2"/>
          <c:order val="2"/>
          <c:tx>
            <c:strRef>
              <c:f>Sheet1!$D$1</c:f>
              <c:strCache>
                <c:ptCount val="1"/>
                <c:pt idx="0">
                  <c:v>Combined</c:v>
                </c:pt>
              </c:strCache>
            </c:strRef>
          </c:tx>
          <c:spPr>
            <a:solidFill>
              <a:srgbClr val="009E73"/>
            </a:solidFill>
          </c:spPr>
          <c:cat>
            <c:strRef>
              <c:f>Sheet1!$A$2:$A$4</c:f>
              <c:strCache>
                <c:ptCount val="3"/>
                <c:pt idx="0">
                  <c:v>Logistic Reg.</c:v>
                </c:pt>
                <c:pt idx="1">
                  <c:v>Random Forest</c:v>
                </c:pt>
                <c:pt idx="2">
                  <c:v>XGBoost</c:v>
                </c:pt>
              </c:strCache>
            </c:strRef>
          </c:cat>
          <c:val>
            <c:numRef>
              <c:f>Sheet1!$D$2:$D$4</c:f>
              <c:numCache>
                <c:formatCode>General</c:formatCode>
                <c:ptCount val="3"/>
                <c:pt idx="0">
                  <c:v>0.2341341765380798</c:v>
                </c:pt>
                <c:pt idx="1">
                  <c:v>0.3890925932486169</c:v>
                </c:pt>
                <c:pt idx="2">
                  <c:v>0.34949036805972095</c:v>
                </c:pt>
              </c:numCache>
            </c:numRef>
          </c:val>
        </c:ser>
        <c:dLbls>
          <c:numFmt formatCode="0.000" sourceLinked="0"/>
          <c:txPr>
            <a:bodyPr/>
            <a:lstStyle/>
            <a:p>
              <a:pPr>
                <a:defRPr sz="10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9AA4AF"/>
            </a:solidFill>
          </a:ln>
        </c:spPr>
        <c:txPr>
          <a:bodyPr/>
          <a:lstStyle/>
          <a:p>
            <a:pPr>
              <a:defRPr sz="1200">
                <a:solidFill>
                  <a:srgbClr val="222B36"/>
                </a:solidFill>
              </a:defRPr>
            </a:pPr>
          </a:p>
        </c:txPr>
        <c:crossAx val="-2113994440"/>
        <c:crosses val="autoZero"/>
        <c:auto val="1"/>
        <c:lblAlgn val="ctr"/>
        <c:lblOffset val="100"/>
        <c:noMultiLvlLbl val="0"/>
      </c:catAx>
      <c:valAx>
        <c:axId val="-2113994440"/>
        <c:scaling>
          <c:max val="0.45"/>
          <c:min val="0.0"/>
        </c:scaling>
        <c:delete val="0"/>
        <c:axPos val="l"/>
        <c:majorGridlines>
          <c:spPr>
            <a:ln>
              <a:solidFill>
                <a:srgbClr val="D9DEE5"/>
              </a:solidFill>
            </a:ln>
          </c:spPr>
        </c:majorGridlines>
        <c:numFmt formatCode="0.00" sourceLinked="0"/>
        <c:majorTickMark val="out"/>
        <c:minorTickMark val="none"/>
        <c:tickLblPos val="nextTo"/>
        <c:spPr>
          <a:ln>
            <a:noFill/>
          </a:ln>
        </c:spPr>
        <c:txPr>
          <a:bodyPr/>
          <a:lstStyle/>
          <a:p>
            <a:pPr>
              <a:defRPr sz="1200">
                <a:solidFill>
                  <a:srgbClr val="5C6773"/>
                </a:solidFill>
              </a:defRPr>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222B36"/>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t>RF + combined, test set, per endpoint</a:t>
            </a:r>
          </a:p>
        </c:rich>
      </c:tx>
      <c:layout/>
      <c:overlay val="0"/>
    </c:title>
    <c:autoTitleDeleted val="0"/>
    <c:plotArea>
      <c:barChart>
        <c:barDir val="bar"/>
        <c:grouping val="clustered"/>
        <c:ser>
          <c:idx val="0"/>
          <c:order val="0"/>
          <c:tx>
            <c:strRef>
              <c:f>Sheet1!$B$1</c:f>
              <c:strCache>
                <c:ptCount val="1"/>
                <c:pt idx="0">
                  <c:v>ROC-AUC</c:v>
                </c:pt>
              </c:strCache>
            </c:strRef>
          </c:tx>
          <c:spPr>
            <a:solidFill>
              <a:srgbClr val="0072B2"/>
            </a:solidFill>
          </c:spPr>
          <c:cat>
            <c:strRef>
              <c:f>Sheet1!$A$2:$A$13</c:f>
              <c:strCache>
                <c:ptCount val="12"/>
                <c:pt idx="0">
                  <c:v>SR-ARE</c:v>
                </c:pt>
                <c:pt idx="1">
                  <c:v>NR-AR</c:v>
                </c:pt>
                <c:pt idx="2">
                  <c:v>NR-PPAR-gamma</c:v>
                </c:pt>
                <c:pt idx="3">
                  <c:v>SR-ATAD5</c:v>
                </c:pt>
                <c:pt idx="4">
                  <c:v>NR-ER</c:v>
                </c:pt>
                <c:pt idx="5">
                  <c:v>SR-p53</c:v>
                </c:pt>
                <c:pt idx="6">
                  <c:v>NR-ER-LBD</c:v>
                </c:pt>
                <c:pt idx="7">
                  <c:v>NR-Aromatase</c:v>
                </c:pt>
                <c:pt idx="8">
                  <c:v>SR-HSE</c:v>
                </c:pt>
                <c:pt idx="9">
                  <c:v>NR-AR-LBD</c:v>
                </c:pt>
                <c:pt idx="10">
                  <c:v>SR-MMP</c:v>
                </c:pt>
                <c:pt idx="11">
                  <c:v>NR-AhR</c:v>
                </c:pt>
              </c:strCache>
            </c:strRef>
          </c:cat>
          <c:val>
            <c:numRef>
              <c:f>Sheet1!$B$2:$B$13</c:f>
              <c:numCache>
                <c:formatCode>General</c:formatCode>
                <c:ptCount val="12"/>
                <c:pt idx="0">
                  <c:v>0.662</c:v>
                </c:pt>
                <c:pt idx="1">
                  <c:v>0.67</c:v>
                </c:pt>
                <c:pt idx="2">
                  <c:v>0.707</c:v>
                </c:pt>
                <c:pt idx="3">
                  <c:v>0.715</c:v>
                </c:pt>
                <c:pt idx="4">
                  <c:v>0.726</c:v>
                </c:pt>
                <c:pt idx="5">
                  <c:v>0.729</c:v>
                </c:pt>
                <c:pt idx="6">
                  <c:v>0.73</c:v>
                </c:pt>
                <c:pt idx="7">
                  <c:v>0.758</c:v>
                </c:pt>
                <c:pt idx="8">
                  <c:v>0.774</c:v>
                </c:pt>
                <c:pt idx="9">
                  <c:v>0.818</c:v>
                </c:pt>
                <c:pt idx="10">
                  <c:v>0.846</c:v>
                </c:pt>
                <c:pt idx="11">
                  <c:v>0.852</c:v>
                </c:pt>
              </c:numCache>
            </c:numRef>
          </c:val>
        </c:ser>
        <c:ser>
          <c:idx val="1"/>
          <c:order val="1"/>
          <c:tx>
            <c:strRef>
              <c:f>Sheet1!$C$1</c:f>
              <c:strCache>
                <c:ptCount val="1"/>
                <c:pt idx="0">
                  <c:v>AP</c:v>
                </c:pt>
              </c:strCache>
            </c:strRef>
          </c:tx>
          <c:spPr>
            <a:solidFill>
              <a:srgbClr val="009E73"/>
            </a:solidFill>
          </c:spPr>
          <c:cat>
            <c:strRef>
              <c:f>Sheet1!$A$2:$A$13</c:f>
              <c:strCache>
                <c:ptCount val="12"/>
                <c:pt idx="0">
                  <c:v>SR-ARE</c:v>
                </c:pt>
                <c:pt idx="1">
                  <c:v>NR-AR</c:v>
                </c:pt>
                <c:pt idx="2">
                  <c:v>NR-PPAR-gamma</c:v>
                </c:pt>
                <c:pt idx="3">
                  <c:v>SR-ATAD5</c:v>
                </c:pt>
                <c:pt idx="4">
                  <c:v>NR-ER</c:v>
                </c:pt>
                <c:pt idx="5">
                  <c:v>SR-p53</c:v>
                </c:pt>
                <c:pt idx="6">
                  <c:v>NR-ER-LBD</c:v>
                </c:pt>
                <c:pt idx="7">
                  <c:v>NR-Aromatase</c:v>
                </c:pt>
                <c:pt idx="8">
                  <c:v>SR-HSE</c:v>
                </c:pt>
                <c:pt idx="9">
                  <c:v>NR-AR-LBD</c:v>
                </c:pt>
                <c:pt idx="10">
                  <c:v>SR-MMP</c:v>
                </c:pt>
                <c:pt idx="11">
                  <c:v>NR-AhR</c:v>
                </c:pt>
              </c:strCache>
            </c:strRef>
          </c:cat>
          <c:val>
            <c:numRef>
              <c:f>Sheet1!$C$2:$C$13</c:f>
              <c:numCache>
                <c:formatCode>General</c:formatCode>
                <c:ptCount val="12"/>
                <c:pt idx="0">
                  <c:v>0.365</c:v>
                </c:pt>
                <c:pt idx="1">
                  <c:v>0.335</c:v>
                </c:pt>
                <c:pt idx="2">
                  <c:v>0.201</c:v>
                </c:pt>
                <c:pt idx="3">
                  <c:v>0.295</c:v>
                </c:pt>
                <c:pt idx="4">
                  <c:v>0.428</c:v>
                </c:pt>
                <c:pt idx="5">
                  <c:v>0.335</c:v>
                </c:pt>
                <c:pt idx="6">
                  <c:v>0.486</c:v>
                </c:pt>
                <c:pt idx="7">
                  <c:v>0.304</c:v>
                </c:pt>
                <c:pt idx="8">
                  <c:v>0.367</c:v>
                </c:pt>
                <c:pt idx="9">
                  <c:v>0.421</c:v>
                </c:pt>
                <c:pt idx="10">
                  <c:v>0.594</c:v>
                </c:pt>
                <c:pt idx="11">
                  <c:v>0.539</c:v>
                </c:pt>
              </c:numCache>
            </c:numRef>
          </c:val>
        </c:ser>
        <c:ser>
          <c:idx val="2"/>
          <c:order val="2"/>
          <c:tx>
            <c:strRef>
              <c:f>Sheet1!$D$1</c:f>
              <c:strCache>
                <c:ptCount val="1"/>
                <c:pt idx="0">
                  <c:v>Prevalence (AP baseline)</c:v>
                </c:pt>
              </c:strCache>
            </c:strRef>
          </c:tx>
          <c:spPr>
            <a:solidFill>
              <a:srgbClr val="9AA4AF"/>
            </a:solidFill>
          </c:spPr>
          <c:cat>
            <c:strRef>
              <c:f>Sheet1!$A$2:$A$13</c:f>
              <c:strCache>
                <c:ptCount val="12"/>
                <c:pt idx="0">
                  <c:v>SR-ARE</c:v>
                </c:pt>
                <c:pt idx="1">
                  <c:v>NR-AR</c:v>
                </c:pt>
                <c:pt idx="2">
                  <c:v>NR-PPAR-gamma</c:v>
                </c:pt>
                <c:pt idx="3">
                  <c:v>SR-ATAD5</c:v>
                </c:pt>
                <c:pt idx="4">
                  <c:v>NR-ER</c:v>
                </c:pt>
                <c:pt idx="5">
                  <c:v>SR-p53</c:v>
                </c:pt>
                <c:pt idx="6">
                  <c:v>NR-ER-LBD</c:v>
                </c:pt>
                <c:pt idx="7">
                  <c:v>NR-Aromatase</c:v>
                </c:pt>
                <c:pt idx="8">
                  <c:v>SR-HSE</c:v>
                </c:pt>
                <c:pt idx="9">
                  <c:v>NR-AR-LBD</c:v>
                </c:pt>
                <c:pt idx="10">
                  <c:v>SR-MMP</c:v>
                </c:pt>
                <c:pt idx="11">
                  <c:v>NR-AhR</c:v>
                </c:pt>
              </c:strCache>
            </c:strRef>
          </c:cat>
          <c:val>
            <c:numRef>
              <c:f>Sheet1!$D$2:$D$13</c:f>
              <c:numCache>
                <c:formatCode>General</c:formatCode>
                <c:ptCount val="12"/>
                <c:pt idx="0">
                  <c:v>0.21</c:v>
                </c:pt>
                <c:pt idx="1">
                  <c:v>0.035</c:v>
                </c:pt>
                <c:pt idx="2">
                  <c:v>0.048</c:v>
                </c:pt>
                <c:pt idx="3">
                  <c:v>0.038</c:v>
                </c:pt>
                <c:pt idx="4">
                  <c:v>0.122</c:v>
                </c:pt>
                <c:pt idx="5">
                  <c:v>0.097</c:v>
                </c:pt>
                <c:pt idx="6">
                  <c:v>0.041</c:v>
                </c:pt>
                <c:pt idx="7">
                  <c:v>0.079</c:v>
                </c:pt>
                <c:pt idx="8">
                  <c:v>0.078</c:v>
                </c:pt>
                <c:pt idx="9">
                  <c:v>0.022</c:v>
                </c:pt>
                <c:pt idx="10">
                  <c:v>0.216</c:v>
                </c:pt>
                <c:pt idx="11">
                  <c:v>0.146</c:v>
                </c:pt>
              </c:numCache>
            </c:numRef>
          </c:val>
        </c:ser>
        <c:gapWidth val="40"/>
        <c:axId val="-2068027336"/>
        <c:axId val="-2113994440"/>
      </c:barChart>
      <c:catAx>
        <c:axId val="-2068027336"/>
        <c:scaling>
          <c:orientation val="minMax"/>
        </c:scaling>
        <c:delete val="0"/>
        <c:axPos val="l"/>
        <c:majorTickMark val="out"/>
        <c:minorTickMark val="none"/>
        <c:tickLblPos val="nextTo"/>
        <c:spPr>
          <a:ln>
            <a:solidFill>
              <a:srgbClr val="9AA4AF"/>
            </a:solidFill>
          </a:ln>
        </c:spPr>
        <c:txPr>
          <a:bodyPr/>
          <a:lstStyle/>
          <a:p>
            <a:pPr>
              <a:defRPr sz="1100">
                <a:solidFill>
                  <a:srgbClr val="222B36"/>
                </a:solidFill>
              </a:defRPr>
            </a:pPr>
          </a:p>
        </c:txPr>
        <c:crossAx val="-2113994440"/>
        <c:crosses val="autoZero"/>
        <c:auto val="1"/>
        <c:lblAlgn val="ctr"/>
        <c:lblOffset val="100"/>
        <c:noMultiLvlLbl val="0"/>
      </c:catAx>
      <c:valAx>
        <c:axId val="-2113994440"/>
        <c:scaling>
          <c:max val="1.0"/>
          <c:min val="0.0"/>
        </c:scaling>
        <c:delete val="0"/>
        <c:axPos val="b"/>
        <c:majorGridlines>
          <c:spPr>
            <a:ln>
              <a:solidFill>
                <a:srgbClr val="D9DEE5"/>
              </a:solidFill>
            </a:ln>
          </c:spPr>
        </c:majorGridlines>
        <c:majorTickMark val="out"/>
        <c:minorTickMark val="none"/>
        <c:tickLblPos val="nextTo"/>
        <c:spPr>
          <a:ln>
            <a:noFill/>
          </a:ln>
        </c:spPr>
        <c:txPr>
          <a:bodyPr/>
          <a:lstStyle/>
          <a:p>
            <a:pPr>
              <a:defRPr sz="1100">
                <a:solidFill>
                  <a:srgbClr val="5C6773"/>
                </a:solidFill>
              </a:defRPr>
            </a:pPr>
          </a:p>
        </c:txPr>
        <c:crossAx val="-2068027336"/>
        <c:crosses val="autoZero"/>
      </c:valAx>
    </c:plotArea>
    <c:legend>
      <c:legendPos val="b"/>
      <c:overlay val="0"/>
      <c:txPr>
        <a:bodyPr/>
        <a:lstStyle/>
        <a:p>
          <a:pPr>
            <a:defRPr sz="1100"/>
          </a:pPr>
        </a:p>
      </c:txPr>
    </c:legend>
    <c:dispBlanksAs val="gap"/>
  </c:chart>
  <c:txPr>
    <a:bodyPr/>
    <a:lstStyle/>
    <a:p>
      <a:pPr>
        <a:defRPr sz="1100">
          <a:solidFill>
            <a:srgbClr val="222B36"/>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team and the scope: this is Phase 1 only, classical machine learning. Graph neural networks in the project title are Phase 2 and are not reported 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Animal testing is slow, costly, and translates imperfectly to humans (Hartung 2009); the NRC 2007 report pushed toward high-throughput in vitro assays, which produced Tox21. Our data: 17.06% of molecule-endpoint labels are missing, and prevalence runs from 2.89% to 16.17%. Random splits leak close analogues into the test set.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single question. Emphasise that test labels are untouched until the end, and that we deliberately report what the uncertainty does and does not mean.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point: published Tox21 numbers come from different test protocols (challenge test set, or MoleculeNet random split), so we do not compare numbers directly. Classical descriptor models remain competitive with graph networks on average (Jiang 2021).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7,831 records in the DeepChem file, SHA-256 verified. Eight organo-aluminium records fail RDKit valence sanitisation and are logged, not repaired. Missing labels are never treated as inactive.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only place the validation set is used is threshold selection; the test set is touched once, at the 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Morgan bits capture local substructures (ECFP4-like, radius 2). Descriptors are global properties with known origins: Crippen logP, Ertl TPSA, Lipinski HBD/HBA, Lovering Fsp3. Combined concatenates both; only the descriptor block is scaled.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Scaffolds via RDKit MurckoScaffoldSmiles. Groups are assigned largest first, so validation and test contain only singleton scaffolds: a strict test of generalisation to rare chemotypes, but also a different composition from training. All 1,775 acyclic molecules are in training. Zero overlap confirmed by independent re-extraction.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Hyperparameters were fixed in advance; no tuning was done. Each endpoint gets its own classifier trained only on molecules labelled for that endpoint. Imbalance handled with class weights (LR, RF) or scale_pos_weight = negatives/positives in training (XGBoost).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 is the step-wise average precision (sklearn average_precision_score), not a trapezoid. Its random baseline equals prevalence. The plus-minus value is the SEM across the 12 endpoints from one run: it describes assay-to-assay spread, not seed variance, and is not a significance test.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RF with combined features: ROC-AUC 0.7488 ± 0.0181, AP 0.3891 ± 0.0320. XGBoost combined is close on ROC-AUC (0.7456). Logistic regression on descriptors has decent ROC-AUC but the lowest AP. All values recompute exactly from the saved prediction CSVs.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value per column is RF + combined. Note the SEMs (about 0.02 for ROC-AUC) are as large as the gap between RF and XGBoost on combined features.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Robust: combining representations helps tree models on almost every endpoint; AP beats the random baseline everywhere. Not robust: RF versus XGBoost is a tie at endpoint level. ROC-AUC and AP rank endpoints differently: SR-ARE has the lowest ROC-AUC but mid AP because it has the highest test prevalence.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regenerated everything from the raw download in the pinned environment; 122 tests pass. XGBoost reproduces exactly. Random forest does not: the committed results predate version pinning, so the scikit-learn version that produced them is unknown. Ranking is unchanged. We report the committed values because every artifact refers to them.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the best model is the best among nine under this one protocol. No significance testing, no tuning, no external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robust findings and the Phase 2 plan. Phase 2 is future work only.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Likely questions: (1) Why scaffold split rather than random? (2) What does ± SEM mean? (3) Why does RF not reproduce exactly? (4) Why AP as well as ROC-AUC? (5) Why are 8 molecules excluded? (6) How is test-set leakage prevented? Answers: reports/viva_preparation.md.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chart" Target="../charts/chart2.xml"/><Relationship Id="rId4" Type="http://schemas.openxmlformats.org/officeDocument/2006/relationships/chart" Target="../charts/char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TextBox 1"/>
          <p:cNvSpPr txBox="1"/>
          <p:nvPr/>
        </p:nvSpPr>
        <p:spPr>
          <a:xfrm>
            <a:off x="731520" y="1097280"/>
            <a:ext cx="10698480" cy="457200"/>
          </a:xfrm>
          <a:prstGeom prst="rect">
            <a:avLst/>
          </a:prstGeom>
          <a:noFill/>
        </p:spPr>
        <p:txBody>
          <a:bodyPr wrap="square" anchor="t" lIns="45720" rIns="45720">
            <a:spAutoFit/>
          </a:bodyPr>
          <a:lstStyle/>
          <a:p>
            <a:pPr algn="l"/>
            <a:r>
              <a:rPr sz="1400" b="1" i="0">
                <a:solidFill>
                  <a:srgbClr val="8FD3BE"/>
                </a:solidFill>
                <a:latin typeface="Calibri"/>
              </a:rPr>
              <a:t>PHASE 1 FINAL PRESENTATION</a:t>
            </a:r>
          </a:p>
        </p:txBody>
      </p:sp>
      <p:sp>
        <p:nvSpPr>
          <p:cNvPr id="3" name="TextBox 2"/>
          <p:cNvSpPr txBox="1"/>
          <p:nvPr/>
        </p:nvSpPr>
        <p:spPr>
          <a:xfrm>
            <a:off x="731520" y="1554480"/>
            <a:ext cx="10698480" cy="2148840"/>
          </a:xfrm>
          <a:prstGeom prst="rect">
            <a:avLst/>
          </a:prstGeom>
          <a:noFill/>
        </p:spPr>
        <p:txBody>
          <a:bodyPr wrap="square" anchor="t" lIns="45720" rIns="45720">
            <a:spAutoFit/>
          </a:bodyPr>
          <a:lstStyle/>
          <a:p>
            <a:pPr algn="l"/>
            <a:r>
              <a:rPr sz="4000" b="1" i="0">
                <a:solidFill>
                  <a:srgbClr val="FFFFFF"/>
                </a:solidFill>
                <a:latin typeface="Cambria"/>
              </a:rPr>
              <a:t>Molecular Toxicity Prediction with Morgan Fingerprints and Physicochemical Descriptors</a:t>
            </a:r>
          </a:p>
        </p:txBody>
      </p:sp>
      <p:sp>
        <p:nvSpPr>
          <p:cNvPr id="4" name="TextBox 3"/>
          <p:cNvSpPr txBox="1"/>
          <p:nvPr/>
        </p:nvSpPr>
        <p:spPr>
          <a:xfrm>
            <a:off x="731520" y="3840480"/>
            <a:ext cx="10698480" cy="548640"/>
          </a:xfrm>
          <a:prstGeom prst="rect">
            <a:avLst/>
          </a:prstGeom>
          <a:noFill/>
        </p:spPr>
        <p:txBody>
          <a:bodyPr wrap="square" anchor="t" lIns="45720" rIns="45720">
            <a:spAutoFit/>
          </a:bodyPr>
          <a:lstStyle/>
          <a:p>
            <a:pPr algn="l"/>
            <a:r>
              <a:rPr sz="2000" b="0" i="1">
                <a:solidFill>
                  <a:srgbClr val="CAD5E2"/>
                </a:solidFill>
                <a:latin typeface="Calibri"/>
              </a:rPr>
              <a:t>A scaffold-based evaluation of classical machine-learning models on Tox21</a:t>
            </a:r>
          </a:p>
        </p:txBody>
      </p:sp>
      <p:sp>
        <p:nvSpPr>
          <p:cNvPr id="5" name="TextBox 4"/>
          <p:cNvSpPr txBox="1"/>
          <p:nvPr/>
        </p:nvSpPr>
        <p:spPr>
          <a:xfrm>
            <a:off x="731520" y="4892040"/>
            <a:ext cx="10698480" cy="457200"/>
          </a:xfrm>
          <a:prstGeom prst="rect">
            <a:avLst/>
          </a:prstGeom>
          <a:noFill/>
        </p:spPr>
        <p:txBody>
          <a:bodyPr wrap="square" anchor="t" lIns="45720" rIns="45720">
            <a:spAutoFit/>
          </a:bodyPr>
          <a:lstStyle/>
          <a:p>
            <a:pPr algn="l"/>
            <a:r>
              <a:rPr sz="1600" b="0" i="0">
                <a:solidFill>
                  <a:srgbClr val="FFFFFF"/>
                </a:solidFill>
                <a:latin typeface="Calibri"/>
              </a:rPr>
              <a:t>Amogha Raj Sindur  ·  Bulbul Agarwalla  ·  Shourya Pratap  ·  Kanishka Dubey  ·  Aditya Yadav</a:t>
            </a:r>
          </a:p>
        </p:txBody>
      </p:sp>
      <p:sp>
        <p:nvSpPr>
          <p:cNvPr id="6" name="TextBox 5"/>
          <p:cNvSpPr txBox="1"/>
          <p:nvPr/>
        </p:nvSpPr>
        <p:spPr>
          <a:xfrm>
            <a:off x="731520" y="5349240"/>
            <a:ext cx="10698480" cy="457200"/>
          </a:xfrm>
          <a:prstGeom prst="rect">
            <a:avLst/>
          </a:prstGeom>
          <a:noFill/>
        </p:spPr>
        <p:txBody>
          <a:bodyPr wrap="square" anchor="t" lIns="45720" rIns="45720">
            <a:spAutoFit/>
          </a:bodyPr>
          <a:lstStyle/>
          <a:p>
            <a:pPr algn="l"/>
            <a:r>
              <a:rPr sz="1400" b="0" i="0">
                <a:solidFill>
                  <a:srgbClr val="A9B6C6"/>
                </a:solidFill>
                <a:latin typeface="Calibri"/>
              </a:rPr>
              <a:t>[Department, Institution]   ·   Supervisor: [Name]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Why toxicity prediction is hard</a:t>
            </a:r>
          </a:p>
        </p:txBody>
      </p:sp>
      <p:sp>
        <p:nvSpPr>
          <p:cNvPr id="3" name="TextBox 2"/>
          <p:cNvSpPr txBox="1"/>
          <p:nvPr/>
        </p:nvSpPr>
        <p:spPr>
          <a:xfrm>
            <a:off x="548640" y="6355080"/>
            <a:ext cx="9601200" cy="320040"/>
          </a:xfrm>
          <a:prstGeom prst="rect">
            <a:avLst/>
          </a:prstGeom>
          <a:noFill/>
        </p:spPr>
        <p:txBody>
          <a:bodyPr wrap="square" anchor="t" lIns="45720" rIns="45720">
            <a:spAutoFit/>
          </a:bodyPr>
          <a:lstStyle/>
          <a:p>
            <a:pPr algn="l"/>
            <a:r>
              <a:rPr sz="1000" b="0" i="0">
                <a:solidFill>
                  <a:srgbClr val="5C6773"/>
                </a:solidFill>
                <a:latin typeface="Calibri"/>
              </a:rPr>
              <a:t>[1] Hartung 2009 · [2] NRC 2007 · [3] Huang et al. 2016 · values: this project</a:t>
            </a:r>
          </a:p>
        </p:txBody>
      </p:sp>
      <p:sp>
        <p:nvSpPr>
          <p:cNvPr id="4" name="TextBox 3"/>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2</a:t>
            </a:r>
          </a:p>
        </p:txBody>
      </p:sp>
      <p:sp>
        <p:nvSpPr>
          <p:cNvPr id="5" name="Rounded Rectangle 4"/>
          <p:cNvSpPr/>
          <p:nvPr/>
        </p:nvSpPr>
        <p:spPr>
          <a:xfrm>
            <a:off x="548640" y="1737360"/>
            <a:ext cx="3474720" cy="3566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22959" y="2011680"/>
            <a:ext cx="457200" cy="457200"/>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1</a:t>
            </a:r>
          </a:p>
        </p:txBody>
      </p:sp>
      <p:sp>
        <p:nvSpPr>
          <p:cNvPr id="7" name="TextBox 6"/>
          <p:cNvSpPr txBox="1"/>
          <p:nvPr/>
        </p:nvSpPr>
        <p:spPr>
          <a:xfrm>
            <a:off x="822959" y="2651760"/>
            <a:ext cx="2926080" cy="822960"/>
          </a:xfrm>
          <a:prstGeom prst="rect">
            <a:avLst/>
          </a:prstGeom>
          <a:noFill/>
        </p:spPr>
        <p:txBody>
          <a:bodyPr wrap="square" anchor="t" lIns="45720" rIns="45720">
            <a:spAutoFit/>
          </a:bodyPr>
          <a:lstStyle/>
          <a:p>
            <a:pPr algn="l"/>
            <a:r>
              <a:rPr sz="2100" b="1" i="0">
                <a:solidFill>
                  <a:srgbClr val="1B2A41"/>
                </a:solidFill>
                <a:latin typeface="Cambria"/>
              </a:rPr>
              <a:t>Costly experiments</a:t>
            </a:r>
          </a:p>
        </p:txBody>
      </p:sp>
      <p:sp>
        <p:nvSpPr>
          <p:cNvPr id="8" name="TextBox 7"/>
          <p:cNvSpPr txBox="1"/>
          <p:nvPr/>
        </p:nvSpPr>
        <p:spPr>
          <a:xfrm>
            <a:off x="822959" y="3474720"/>
            <a:ext cx="2926080" cy="1645920"/>
          </a:xfrm>
          <a:prstGeom prst="rect">
            <a:avLst/>
          </a:prstGeom>
          <a:noFill/>
        </p:spPr>
        <p:txBody>
          <a:bodyPr wrap="square" anchor="t" lIns="45720" rIns="45720">
            <a:spAutoFit/>
          </a:bodyPr>
          <a:lstStyle/>
          <a:p>
            <a:pPr algn="l"/>
            <a:r>
              <a:rPr sz="1700" b="0" i="0">
                <a:solidFill>
                  <a:srgbClr val="222B36"/>
                </a:solidFill>
                <a:latin typeface="Calibri"/>
              </a:rPr>
              <a:t>In vivo testing is slow and extrapolates imperfectly to humans; in vitro HTS (Tox21) was the response [1, 2, 3].</a:t>
            </a:r>
          </a:p>
        </p:txBody>
      </p:sp>
      <p:sp>
        <p:nvSpPr>
          <p:cNvPr id="9" name="Rounded Rectangle 8"/>
          <p:cNvSpPr/>
          <p:nvPr/>
        </p:nvSpPr>
        <p:spPr>
          <a:xfrm>
            <a:off x="4297679" y="1737360"/>
            <a:ext cx="3474720" cy="3566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571999" y="2011680"/>
            <a:ext cx="457200" cy="457200"/>
          </a:xfrm>
          <a:prstGeom prst="ellipse">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2</a:t>
            </a:r>
          </a:p>
        </p:txBody>
      </p:sp>
      <p:sp>
        <p:nvSpPr>
          <p:cNvPr id="11" name="TextBox 10"/>
          <p:cNvSpPr txBox="1"/>
          <p:nvPr/>
        </p:nvSpPr>
        <p:spPr>
          <a:xfrm>
            <a:off x="4571999" y="2651760"/>
            <a:ext cx="2926080" cy="822960"/>
          </a:xfrm>
          <a:prstGeom prst="rect">
            <a:avLst/>
          </a:prstGeom>
          <a:noFill/>
        </p:spPr>
        <p:txBody>
          <a:bodyPr wrap="square" anchor="t" lIns="45720" rIns="45720">
            <a:spAutoFit/>
          </a:bodyPr>
          <a:lstStyle/>
          <a:p>
            <a:pPr algn="l"/>
            <a:r>
              <a:rPr sz="2100" b="1" i="0">
                <a:solidFill>
                  <a:srgbClr val="1B2A41"/>
                </a:solidFill>
                <a:latin typeface="Cambria"/>
              </a:rPr>
              <a:t>Sparse, imbalanced labels</a:t>
            </a:r>
          </a:p>
        </p:txBody>
      </p:sp>
      <p:sp>
        <p:nvSpPr>
          <p:cNvPr id="12" name="TextBox 11"/>
          <p:cNvSpPr txBox="1"/>
          <p:nvPr/>
        </p:nvSpPr>
        <p:spPr>
          <a:xfrm>
            <a:off x="4571999" y="3474720"/>
            <a:ext cx="2926080" cy="1645920"/>
          </a:xfrm>
          <a:prstGeom prst="rect">
            <a:avLst/>
          </a:prstGeom>
          <a:noFill/>
        </p:spPr>
        <p:txBody>
          <a:bodyPr wrap="square" anchor="t" lIns="45720" rIns="45720">
            <a:spAutoFit/>
          </a:bodyPr>
          <a:lstStyle/>
          <a:p>
            <a:pPr algn="l"/>
            <a:r>
              <a:rPr sz="1700" b="0" i="0">
                <a:solidFill>
                  <a:srgbClr val="222B36"/>
                </a:solidFill>
                <a:latin typeface="Calibri"/>
              </a:rPr>
              <a:t>17.1% of molecule–assay labels are missing; actives are only 2.9–16.2% per endpoint.</a:t>
            </a:r>
          </a:p>
        </p:txBody>
      </p:sp>
      <p:sp>
        <p:nvSpPr>
          <p:cNvPr id="13" name="Rounded Rectangle 12"/>
          <p:cNvSpPr/>
          <p:nvPr/>
        </p:nvSpPr>
        <p:spPr>
          <a:xfrm>
            <a:off x="8046719" y="1737360"/>
            <a:ext cx="3474720" cy="356616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321040" y="2011680"/>
            <a:ext cx="457200" cy="457200"/>
          </a:xfrm>
          <a:prstGeom prst="ellipse">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3</a:t>
            </a:r>
          </a:p>
        </p:txBody>
      </p:sp>
      <p:sp>
        <p:nvSpPr>
          <p:cNvPr id="15" name="TextBox 14"/>
          <p:cNvSpPr txBox="1"/>
          <p:nvPr/>
        </p:nvSpPr>
        <p:spPr>
          <a:xfrm>
            <a:off x="8321040" y="2651760"/>
            <a:ext cx="2926080" cy="822960"/>
          </a:xfrm>
          <a:prstGeom prst="rect">
            <a:avLst/>
          </a:prstGeom>
          <a:noFill/>
        </p:spPr>
        <p:txBody>
          <a:bodyPr wrap="square" anchor="t" lIns="45720" rIns="45720">
            <a:spAutoFit/>
          </a:bodyPr>
          <a:lstStyle/>
          <a:p>
            <a:pPr algn="l"/>
            <a:r>
              <a:rPr sz="2100" b="1" i="0">
                <a:solidFill>
                  <a:srgbClr val="1B2A41"/>
                </a:solidFill>
                <a:latin typeface="Cambria"/>
              </a:rPr>
              <a:t>Optimistic evaluation</a:t>
            </a:r>
          </a:p>
        </p:txBody>
      </p:sp>
      <p:sp>
        <p:nvSpPr>
          <p:cNvPr id="16" name="TextBox 15"/>
          <p:cNvSpPr txBox="1"/>
          <p:nvPr/>
        </p:nvSpPr>
        <p:spPr>
          <a:xfrm>
            <a:off x="8321040" y="3474720"/>
            <a:ext cx="2926080" cy="1645920"/>
          </a:xfrm>
          <a:prstGeom prst="rect">
            <a:avLst/>
          </a:prstGeom>
          <a:noFill/>
        </p:spPr>
        <p:txBody>
          <a:bodyPr wrap="square" anchor="t" lIns="45720" rIns="45720">
            <a:spAutoFit/>
          </a:bodyPr>
          <a:lstStyle/>
          <a:p>
            <a:pPr algn="l"/>
            <a:r>
              <a:rPr sz="1700" b="0" i="0">
                <a:solidFill>
                  <a:srgbClr val="222B36"/>
                </a:solidFill>
                <a:latin typeface="Calibri"/>
              </a:rPr>
              <a:t>Structurally related molecules across train and test inflate scores; the split protocol matters.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Research question and objectives</a:t>
            </a:r>
          </a:p>
        </p:txBody>
      </p:sp>
      <p:sp>
        <p:nvSpPr>
          <p:cNvPr id="3" name="TextBox 2"/>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3</a:t>
            </a:r>
          </a:p>
        </p:txBody>
      </p:sp>
      <p:sp>
        <p:nvSpPr>
          <p:cNvPr id="4" name="Rounded Rectangle 3"/>
          <p:cNvSpPr/>
          <p:nvPr/>
        </p:nvSpPr>
        <p:spPr>
          <a:xfrm>
            <a:off x="548640" y="1417320"/>
            <a:ext cx="11064240" cy="1325880"/>
          </a:xfrm>
          <a:prstGeom prst="roundRect">
            <a:avLst>
              <a:gd name="adj" fmla="val 8000"/>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508760"/>
            <a:ext cx="10424160" cy="1143000"/>
          </a:xfrm>
          <a:prstGeom prst="rect">
            <a:avLst/>
          </a:prstGeom>
          <a:noFill/>
        </p:spPr>
        <p:txBody>
          <a:bodyPr wrap="square" anchor="ctr" lIns="45720" rIns="45720">
            <a:spAutoFit/>
          </a:bodyPr>
          <a:lstStyle/>
          <a:p>
            <a:pPr algn="l"/>
            <a:r>
              <a:rPr sz="2000" b="0" i="1">
                <a:solidFill>
                  <a:srgbClr val="FFFFFF"/>
                </a:solidFill>
                <a:latin typeface="Cambria"/>
              </a:rPr>
              <a:t>Under a leakage-controlled scaffold split of Tox21, how do circular fingerprints, physicochemical descriptors and their combination compare across logistic regression, random forest and XGBoost?</a:t>
            </a:r>
          </a:p>
        </p:txBody>
      </p:sp>
      <p:sp>
        <p:nvSpPr>
          <p:cNvPr id="6" name="Oval 5"/>
          <p:cNvSpPr/>
          <p:nvPr/>
        </p:nvSpPr>
        <p:spPr>
          <a:xfrm>
            <a:off x="548640" y="3108960"/>
            <a:ext cx="457200" cy="457200"/>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1</a:t>
            </a:r>
          </a:p>
        </p:txBody>
      </p:sp>
      <p:sp>
        <p:nvSpPr>
          <p:cNvPr id="7" name="TextBox 6"/>
          <p:cNvSpPr txBox="1"/>
          <p:nvPr/>
        </p:nvSpPr>
        <p:spPr>
          <a:xfrm>
            <a:off x="1188719" y="3044952"/>
            <a:ext cx="4754880" cy="457200"/>
          </a:xfrm>
          <a:prstGeom prst="rect">
            <a:avLst/>
          </a:prstGeom>
          <a:noFill/>
        </p:spPr>
        <p:txBody>
          <a:bodyPr wrap="square" anchor="t" lIns="45720" rIns="45720">
            <a:spAutoFit/>
          </a:bodyPr>
          <a:lstStyle/>
          <a:p>
            <a:pPr algn="l"/>
            <a:r>
              <a:rPr sz="2000" b="1" i="0">
                <a:solidFill>
                  <a:srgbClr val="1B2A41"/>
                </a:solidFill>
                <a:latin typeface="Cambria"/>
              </a:rPr>
              <a:t>Curate</a:t>
            </a:r>
          </a:p>
        </p:txBody>
      </p:sp>
      <p:sp>
        <p:nvSpPr>
          <p:cNvPr id="8" name="TextBox 7"/>
          <p:cNvSpPr txBox="1"/>
          <p:nvPr/>
        </p:nvSpPr>
        <p:spPr>
          <a:xfrm>
            <a:off x="1188719" y="3502152"/>
            <a:ext cx="4754880" cy="822960"/>
          </a:xfrm>
          <a:prstGeom prst="rect">
            <a:avLst/>
          </a:prstGeom>
          <a:noFill/>
        </p:spPr>
        <p:txBody>
          <a:bodyPr wrap="square" anchor="t" lIns="45720" rIns="45720">
            <a:spAutoFit/>
          </a:bodyPr>
          <a:lstStyle/>
          <a:p>
            <a:pPr algn="l"/>
            <a:r>
              <a:rPr sz="1600" b="0" i="0">
                <a:solidFill>
                  <a:srgbClr val="222B36"/>
                </a:solidFill>
                <a:latin typeface="Calibri"/>
              </a:rPr>
              <a:t>Checksum-verified Tox21, RDKit sanitisation, auditable exclusions</a:t>
            </a:r>
          </a:p>
        </p:txBody>
      </p:sp>
      <p:sp>
        <p:nvSpPr>
          <p:cNvPr id="9" name="Oval 8"/>
          <p:cNvSpPr/>
          <p:nvPr/>
        </p:nvSpPr>
        <p:spPr>
          <a:xfrm>
            <a:off x="6172200" y="3108960"/>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2</a:t>
            </a:r>
          </a:p>
        </p:txBody>
      </p:sp>
      <p:sp>
        <p:nvSpPr>
          <p:cNvPr id="10" name="TextBox 9"/>
          <p:cNvSpPr txBox="1"/>
          <p:nvPr/>
        </p:nvSpPr>
        <p:spPr>
          <a:xfrm>
            <a:off x="6812280" y="3044952"/>
            <a:ext cx="4754880" cy="457200"/>
          </a:xfrm>
          <a:prstGeom prst="rect">
            <a:avLst/>
          </a:prstGeom>
          <a:noFill/>
        </p:spPr>
        <p:txBody>
          <a:bodyPr wrap="square" anchor="t" lIns="45720" rIns="45720">
            <a:spAutoFit/>
          </a:bodyPr>
          <a:lstStyle/>
          <a:p>
            <a:pPr algn="l"/>
            <a:r>
              <a:rPr sz="2000" b="1" i="0">
                <a:solidFill>
                  <a:srgbClr val="1B2A41"/>
                </a:solidFill>
                <a:latin typeface="Cambria"/>
              </a:rPr>
              <a:t>Split</a:t>
            </a:r>
          </a:p>
        </p:txBody>
      </p:sp>
      <p:sp>
        <p:nvSpPr>
          <p:cNvPr id="11" name="TextBox 10"/>
          <p:cNvSpPr txBox="1"/>
          <p:nvPr/>
        </p:nvSpPr>
        <p:spPr>
          <a:xfrm>
            <a:off x="6812280" y="3502152"/>
            <a:ext cx="4754880" cy="822960"/>
          </a:xfrm>
          <a:prstGeom prst="rect">
            <a:avLst/>
          </a:prstGeom>
          <a:noFill/>
        </p:spPr>
        <p:txBody>
          <a:bodyPr wrap="square" anchor="t" lIns="45720" rIns="45720">
            <a:spAutoFit/>
          </a:bodyPr>
          <a:lstStyle/>
          <a:p>
            <a:pPr algn="l"/>
            <a:r>
              <a:rPr sz="1600" b="0" i="0">
                <a:solidFill>
                  <a:srgbClr val="222B36"/>
                </a:solidFill>
                <a:latin typeface="Calibri"/>
              </a:rPr>
              <a:t>Bemis–Murcko scaffolds with zero overlap across partitions</a:t>
            </a:r>
          </a:p>
        </p:txBody>
      </p:sp>
      <p:sp>
        <p:nvSpPr>
          <p:cNvPr id="12" name="Oval 11"/>
          <p:cNvSpPr/>
          <p:nvPr/>
        </p:nvSpPr>
        <p:spPr>
          <a:xfrm>
            <a:off x="548640" y="4663440"/>
            <a:ext cx="457200" cy="457200"/>
          </a:xfrm>
          <a:prstGeom prst="ellipse">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3</a:t>
            </a:r>
          </a:p>
        </p:txBody>
      </p:sp>
      <p:sp>
        <p:nvSpPr>
          <p:cNvPr id="13" name="TextBox 12"/>
          <p:cNvSpPr txBox="1"/>
          <p:nvPr/>
        </p:nvSpPr>
        <p:spPr>
          <a:xfrm>
            <a:off x="1188719" y="4599432"/>
            <a:ext cx="4754880" cy="457200"/>
          </a:xfrm>
          <a:prstGeom prst="rect">
            <a:avLst/>
          </a:prstGeom>
          <a:noFill/>
        </p:spPr>
        <p:txBody>
          <a:bodyPr wrap="square" anchor="t" lIns="45720" rIns="45720">
            <a:spAutoFit/>
          </a:bodyPr>
          <a:lstStyle/>
          <a:p>
            <a:pPr algn="l"/>
            <a:r>
              <a:rPr sz="2000" b="1" i="0">
                <a:solidFill>
                  <a:srgbClr val="1B2A41"/>
                </a:solidFill>
                <a:latin typeface="Cambria"/>
              </a:rPr>
              <a:t>Benchmark</a:t>
            </a:r>
          </a:p>
        </p:txBody>
      </p:sp>
      <p:sp>
        <p:nvSpPr>
          <p:cNvPr id="14" name="TextBox 13"/>
          <p:cNvSpPr txBox="1"/>
          <p:nvPr/>
        </p:nvSpPr>
        <p:spPr>
          <a:xfrm>
            <a:off x="1188719" y="5056631"/>
            <a:ext cx="4754880" cy="822960"/>
          </a:xfrm>
          <a:prstGeom prst="rect">
            <a:avLst/>
          </a:prstGeom>
          <a:noFill/>
        </p:spPr>
        <p:txBody>
          <a:bodyPr wrap="square" anchor="t" lIns="45720" rIns="45720">
            <a:spAutoFit/>
          </a:bodyPr>
          <a:lstStyle/>
          <a:p>
            <a:pPr algn="l"/>
            <a:r>
              <a:rPr sz="1600" b="0" i="0">
                <a:solidFill>
                  <a:srgbClr val="222B36"/>
                </a:solidFill>
                <a:latin typeface="Calibri"/>
              </a:rPr>
              <a:t>3 models × 3 representations × 12 endpoints</a:t>
            </a:r>
          </a:p>
        </p:txBody>
      </p:sp>
      <p:sp>
        <p:nvSpPr>
          <p:cNvPr id="15" name="Oval 14"/>
          <p:cNvSpPr/>
          <p:nvPr/>
        </p:nvSpPr>
        <p:spPr>
          <a:xfrm>
            <a:off x="6172200" y="4663440"/>
            <a:ext cx="457200" cy="457200"/>
          </a:xfrm>
          <a:prstGeom prst="ellipse">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4</a:t>
            </a:r>
          </a:p>
        </p:txBody>
      </p:sp>
      <p:sp>
        <p:nvSpPr>
          <p:cNvPr id="16" name="TextBox 15"/>
          <p:cNvSpPr txBox="1"/>
          <p:nvPr/>
        </p:nvSpPr>
        <p:spPr>
          <a:xfrm>
            <a:off x="6812280" y="4599432"/>
            <a:ext cx="4754880" cy="457200"/>
          </a:xfrm>
          <a:prstGeom prst="rect">
            <a:avLst/>
          </a:prstGeom>
          <a:noFill/>
        </p:spPr>
        <p:txBody>
          <a:bodyPr wrap="square" anchor="t" lIns="45720" rIns="45720">
            <a:spAutoFit/>
          </a:bodyPr>
          <a:lstStyle/>
          <a:p>
            <a:pPr algn="l"/>
            <a:r>
              <a:rPr sz="2000" b="1" i="0">
                <a:solidFill>
                  <a:srgbClr val="1B2A41"/>
                </a:solidFill>
                <a:latin typeface="Cambria"/>
              </a:rPr>
              <a:t>Evaluate honestly</a:t>
            </a:r>
          </a:p>
        </p:txBody>
      </p:sp>
      <p:sp>
        <p:nvSpPr>
          <p:cNvPr id="17" name="TextBox 16"/>
          <p:cNvSpPr txBox="1"/>
          <p:nvPr/>
        </p:nvSpPr>
        <p:spPr>
          <a:xfrm>
            <a:off x="6812280" y="5056631"/>
            <a:ext cx="4754880" cy="822960"/>
          </a:xfrm>
          <a:prstGeom prst="rect">
            <a:avLst/>
          </a:prstGeom>
          <a:noFill/>
        </p:spPr>
        <p:txBody>
          <a:bodyPr wrap="square" anchor="t" lIns="45720" rIns="45720">
            <a:spAutoFit/>
          </a:bodyPr>
          <a:lstStyle/>
          <a:p>
            <a:pPr algn="l"/>
            <a:r>
              <a:rPr sz="1600" b="0" i="0">
                <a:solidFill>
                  <a:srgbClr val="222B36"/>
                </a:solidFill>
                <a:latin typeface="Calibri"/>
              </a:rPr>
              <a:t>Masked labels, train-only scaling, validation-only thresholds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What the literature tells us</a:t>
            </a:r>
          </a:p>
        </p:txBody>
      </p:sp>
      <p:sp>
        <p:nvSpPr>
          <p:cNvPr id="3" name="TextBox 2"/>
          <p:cNvSpPr txBox="1"/>
          <p:nvPr/>
        </p:nvSpPr>
        <p:spPr>
          <a:xfrm>
            <a:off x="548640" y="6355080"/>
            <a:ext cx="9601200" cy="320040"/>
          </a:xfrm>
          <a:prstGeom prst="rect">
            <a:avLst/>
          </a:prstGeom>
          <a:noFill/>
        </p:spPr>
        <p:txBody>
          <a:bodyPr wrap="square" anchor="t" lIns="45720" rIns="45720">
            <a:spAutoFit/>
          </a:bodyPr>
          <a:lstStyle/>
          <a:p>
            <a:pPr algn="l"/>
            <a:r>
              <a:rPr sz="1000" b="0" i="0">
                <a:solidFill>
                  <a:srgbClr val="5C6773"/>
                </a:solidFill>
                <a:latin typeface="Calibri"/>
              </a:rPr>
              <a:t>[3] Huang 2016 · [4] Mayr 2016 · [5] Wu 2018 · [6] Svetnik 2003 · [7] Jiang 2021 · [8] Sheridan 2013 · [9] Saito 2015</a:t>
            </a:r>
          </a:p>
        </p:txBody>
      </p:sp>
      <p:sp>
        <p:nvSpPr>
          <p:cNvPr id="4" name="TextBox 3"/>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4</a:t>
            </a:r>
          </a:p>
        </p:txBody>
      </p:sp>
      <p:graphicFrame>
        <p:nvGraphicFramePr>
          <p:cNvPr id="5" name="Table 4"/>
          <p:cNvGraphicFramePr>
            <a:graphicFrameLocks noGrp="1"/>
          </p:cNvGraphicFramePr>
          <p:nvPr/>
        </p:nvGraphicFramePr>
        <p:xfrm>
          <a:off x="548640" y="1417320"/>
          <a:ext cx="11064240" cy="4389120"/>
        </p:xfrm>
        <a:graphic>
          <a:graphicData uri="http://schemas.openxmlformats.org/drawingml/2006/table">
            <a:tbl>
              <a:tblPr firstRow="1" bandRow="1">
                <a:tableStyleId>{5C22544A-7EE6-4342-B048-85BDC9FD1C3A}</a:tableStyleId>
              </a:tblPr>
              <a:tblGrid>
                <a:gridCol w="2377440"/>
                <a:gridCol w="4846320"/>
                <a:gridCol w="3840480"/>
              </a:tblGrid>
              <a:tr h="548640">
                <a:tc>
                  <a:txBody>
                    <a:bodyPr wrap="square"/>
                    <a:lstStyle/>
                    <a:p>
                      <a:pPr algn="l"/>
                      <a:r>
                        <a:rPr sz="1400" b="1">
                          <a:solidFill>
                            <a:srgbClr val="FFFFFF"/>
                          </a:solidFill>
                          <a:latin typeface="Calibri"/>
                        </a:rPr>
                        <a:t>Study</a:t>
                      </a:r>
                    </a:p>
                  </a:txBody>
                  <a:tcPr marL="73152" marR="73152" marT="27432" marB="27432" anchor="ctr">
                    <a:solidFill>
                      <a:srgbClr val="1B2A41"/>
                    </a:solidFill>
                  </a:tcPr>
                </a:tc>
                <a:tc>
                  <a:txBody>
                    <a:bodyPr wrap="square"/>
                    <a:lstStyle/>
                    <a:p>
                      <a:pPr algn="l"/>
                      <a:r>
                        <a:rPr sz="1400" b="1">
                          <a:solidFill>
                            <a:srgbClr val="FFFFFF"/>
                          </a:solidFill>
                          <a:latin typeface="Calibri"/>
                        </a:rPr>
                        <a:t>Finding</a:t>
                      </a:r>
                    </a:p>
                  </a:txBody>
                  <a:tcPr marL="73152" marR="73152" marT="27432" marB="27432" anchor="ctr">
                    <a:solidFill>
                      <a:srgbClr val="1B2A41"/>
                    </a:solidFill>
                  </a:tcPr>
                </a:tc>
                <a:tc>
                  <a:txBody>
                    <a:bodyPr wrap="square"/>
                    <a:lstStyle/>
                    <a:p>
                      <a:pPr algn="l"/>
                      <a:r>
                        <a:rPr sz="1400" b="1">
                          <a:solidFill>
                            <a:srgbClr val="FFFFFF"/>
                          </a:solidFill>
                          <a:latin typeface="Calibri"/>
                        </a:rPr>
                        <a:t>Implication for us</a:t>
                      </a:r>
                    </a:p>
                  </a:txBody>
                  <a:tcPr marL="73152" marR="73152" marT="27432" marB="27432" anchor="ctr">
                    <a:solidFill>
                      <a:srgbClr val="1B2A41"/>
                    </a:solidFill>
                  </a:tcPr>
                </a:tc>
              </a:tr>
              <a:tr h="548640">
                <a:tc>
                  <a:txBody>
                    <a:bodyPr wrap="square"/>
                    <a:lstStyle/>
                    <a:p>
                      <a:pPr algn="l"/>
                      <a:r>
                        <a:rPr sz="1400" b="0">
                          <a:solidFill>
                            <a:srgbClr val="222B36"/>
                          </a:solidFill>
                          <a:latin typeface="Calibri"/>
                        </a:rPr>
                        <a:t>Tox21 Challenge [3]</a:t>
                      </a:r>
                    </a:p>
                  </a:txBody>
                  <a:tcPr marL="73152" marR="73152" marT="27432" marB="27432" anchor="ctr">
                    <a:solidFill>
                      <a:srgbClr val="FFFFFF"/>
                    </a:solidFill>
                  </a:tcPr>
                </a:tc>
                <a:tc>
                  <a:txBody>
                    <a:bodyPr wrap="square"/>
                    <a:lstStyle/>
                    <a:p>
                      <a:pPr algn="l"/>
                      <a:r>
                        <a:rPr sz="1400" b="0">
                          <a:solidFill>
                            <a:srgbClr val="222B36"/>
                          </a:solidFill>
                          <a:latin typeface="Calibri"/>
                        </a:rPr>
                        <a:t>Winners ROC-AUC 0.81–0.95; AR assays hardest (~0.7)</a:t>
                      </a:r>
                    </a:p>
                  </a:txBody>
                  <a:tcPr marL="73152" marR="73152" marT="27432" marB="27432" anchor="ctr">
                    <a:solidFill>
                      <a:srgbClr val="FFFFFF"/>
                    </a:solidFill>
                  </a:tcPr>
                </a:tc>
                <a:tc>
                  <a:txBody>
                    <a:bodyPr wrap="square"/>
                    <a:lstStyle/>
                    <a:p>
                      <a:pPr algn="l"/>
                      <a:r>
                        <a:rPr sz="1400" b="0">
                          <a:solidFill>
                            <a:srgbClr val="222B36"/>
                          </a:solidFill>
                          <a:latin typeface="Calibri"/>
                        </a:rPr>
                        <a:t>Different test set → context only</a:t>
                      </a:r>
                    </a:p>
                  </a:txBody>
                  <a:tcPr marL="73152" marR="73152" marT="27432" marB="27432" anchor="ctr">
                    <a:solidFill>
                      <a:srgbClr val="FFFFFF"/>
                    </a:solidFill>
                  </a:tcPr>
                </a:tc>
              </a:tr>
              <a:tr h="548640">
                <a:tc>
                  <a:txBody>
                    <a:bodyPr wrap="square"/>
                    <a:lstStyle/>
                    <a:p>
                      <a:pPr algn="l"/>
                      <a:r>
                        <a:rPr sz="1400" b="0">
                          <a:solidFill>
                            <a:srgbClr val="222B36"/>
                          </a:solidFill>
                          <a:latin typeface="Calibri"/>
                        </a:rPr>
                        <a:t>DeepTox [4]</a:t>
                      </a:r>
                    </a:p>
                  </a:txBody>
                  <a:tcPr marL="73152" marR="73152" marT="27432" marB="27432" anchor="ctr">
                    <a:solidFill>
                      <a:srgbClr val="F1F4F8"/>
                    </a:solidFill>
                  </a:tcPr>
                </a:tc>
                <a:tc>
                  <a:txBody>
                    <a:bodyPr wrap="square"/>
                    <a:lstStyle/>
                    <a:p>
                      <a:pPr algn="l"/>
                      <a:r>
                        <a:rPr sz="1400" b="0">
                          <a:solidFill>
                            <a:srgbClr val="222B36"/>
                          </a:solidFill>
                          <a:latin typeface="Calibri"/>
                        </a:rPr>
                        <a:t>Multi-task DNN won; RF/SVM close behind</a:t>
                      </a:r>
                    </a:p>
                  </a:txBody>
                  <a:tcPr marL="73152" marR="73152" marT="27432" marB="27432" anchor="ctr">
                    <a:solidFill>
                      <a:srgbClr val="F1F4F8"/>
                    </a:solidFill>
                  </a:tcPr>
                </a:tc>
                <a:tc>
                  <a:txBody>
                    <a:bodyPr wrap="square"/>
                    <a:lstStyle/>
                    <a:p>
                      <a:pPr algn="l"/>
                      <a:r>
                        <a:rPr sz="1400" b="0">
                          <a:solidFill>
                            <a:srgbClr val="222B36"/>
                          </a:solidFill>
                          <a:latin typeface="Calibri"/>
                        </a:rPr>
                        <a:t>Strong classical baselines matter</a:t>
                      </a:r>
                    </a:p>
                  </a:txBody>
                  <a:tcPr marL="73152" marR="73152" marT="27432" marB="27432" anchor="ctr">
                    <a:solidFill>
                      <a:srgbClr val="F1F4F8"/>
                    </a:solidFill>
                  </a:tcPr>
                </a:tc>
              </a:tr>
              <a:tr h="548640">
                <a:tc>
                  <a:txBody>
                    <a:bodyPr wrap="square"/>
                    <a:lstStyle/>
                    <a:p>
                      <a:pPr algn="l"/>
                      <a:r>
                        <a:rPr sz="1400" b="0">
                          <a:solidFill>
                            <a:srgbClr val="222B36"/>
                          </a:solidFill>
                          <a:latin typeface="Calibri"/>
                        </a:rPr>
                        <a:t>MoleculeNet [5]</a:t>
                      </a:r>
                    </a:p>
                  </a:txBody>
                  <a:tcPr marL="73152" marR="73152" marT="27432" marB="27432" anchor="ctr">
                    <a:solidFill>
                      <a:srgbClr val="FFFFFF"/>
                    </a:solidFill>
                  </a:tcPr>
                </a:tc>
                <a:tc>
                  <a:txBody>
                    <a:bodyPr wrap="square"/>
                    <a:lstStyle/>
                    <a:p>
                      <a:pPr algn="l"/>
                      <a:r>
                        <a:rPr sz="1400" b="0">
                          <a:solidFill>
                            <a:srgbClr val="222B36"/>
                          </a:solidFill>
                          <a:latin typeface="Calibri"/>
                        </a:rPr>
                        <a:t>Scaffold split is harder; Tox21 benchmarked on random split</a:t>
                      </a:r>
                    </a:p>
                  </a:txBody>
                  <a:tcPr marL="73152" marR="73152" marT="27432" marB="27432" anchor="ctr">
                    <a:solidFill>
                      <a:srgbClr val="FFFFFF"/>
                    </a:solidFill>
                  </a:tcPr>
                </a:tc>
                <a:tc>
                  <a:txBody>
                    <a:bodyPr wrap="square"/>
                    <a:lstStyle/>
                    <a:p>
                      <a:pPr algn="l"/>
                      <a:r>
                        <a:rPr sz="1400" b="0">
                          <a:solidFill>
                            <a:srgbClr val="222B36"/>
                          </a:solidFill>
                          <a:latin typeface="Calibri"/>
                        </a:rPr>
                        <a:t>Our numbers are not comparable</a:t>
                      </a:r>
                    </a:p>
                  </a:txBody>
                  <a:tcPr marL="73152" marR="73152" marT="27432" marB="27432" anchor="ctr">
                    <a:solidFill>
                      <a:srgbClr val="FFFFFF"/>
                    </a:solidFill>
                  </a:tcPr>
                </a:tc>
              </a:tr>
              <a:tr h="548640">
                <a:tc>
                  <a:txBody>
                    <a:bodyPr wrap="square"/>
                    <a:lstStyle/>
                    <a:p>
                      <a:pPr algn="l"/>
                      <a:r>
                        <a:rPr sz="1400" b="0">
                          <a:solidFill>
                            <a:srgbClr val="222B36"/>
                          </a:solidFill>
                          <a:latin typeface="Calibri"/>
                        </a:rPr>
                        <a:t>Svetnik et al. [6]</a:t>
                      </a:r>
                    </a:p>
                  </a:txBody>
                  <a:tcPr marL="73152" marR="73152" marT="27432" marB="27432" anchor="ctr">
                    <a:solidFill>
                      <a:srgbClr val="F1F4F8"/>
                    </a:solidFill>
                  </a:tcPr>
                </a:tc>
                <a:tc>
                  <a:txBody>
                    <a:bodyPr wrap="square"/>
                    <a:lstStyle/>
                    <a:p>
                      <a:pPr algn="l"/>
                      <a:r>
                        <a:rPr sz="1400" b="0">
                          <a:solidFill>
                            <a:srgbClr val="222B36"/>
                          </a:solidFill>
                          <a:latin typeface="Calibri"/>
                        </a:rPr>
                        <a:t>Random forest among most accurate QSAR tools</a:t>
                      </a:r>
                    </a:p>
                  </a:txBody>
                  <a:tcPr marL="73152" marR="73152" marT="27432" marB="27432" anchor="ctr">
                    <a:solidFill>
                      <a:srgbClr val="F1F4F8"/>
                    </a:solidFill>
                  </a:tcPr>
                </a:tc>
                <a:tc>
                  <a:txBody>
                    <a:bodyPr wrap="square"/>
                    <a:lstStyle/>
                    <a:p>
                      <a:pPr algn="l"/>
                      <a:r>
                        <a:rPr sz="1400" b="0">
                          <a:solidFill>
                            <a:srgbClr val="222B36"/>
                          </a:solidFill>
                          <a:latin typeface="Calibri"/>
                        </a:rPr>
                        <a:t>Motivates RF</a:t>
                      </a:r>
                    </a:p>
                  </a:txBody>
                  <a:tcPr marL="73152" marR="73152" marT="27432" marB="27432" anchor="ctr">
                    <a:solidFill>
                      <a:srgbClr val="F1F4F8"/>
                    </a:solidFill>
                  </a:tcPr>
                </a:tc>
              </a:tr>
              <a:tr h="548640">
                <a:tc>
                  <a:txBody>
                    <a:bodyPr wrap="square"/>
                    <a:lstStyle/>
                    <a:p>
                      <a:pPr algn="l"/>
                      <a:r>
                        <a:rPr sz="1400" b="0">
                          <a:solidFill>
                            <a:srgbClr val="222B36"/>
                          </a:solidFill>
                          <a:latin typeface="Calibri"/>
                        </a:rPr>
                        <a:t>Jiang et al. [7]</a:t>
                      </a:r>
                    </a:p>
                  </a:txBody>
                  <a:tcPr marL="73152" marR="73152" marT="27432" marB="27432" anchor="ctr">
                    <a:solidFill>
                      <a:srgbClr val="FFFFFF"/>
                    </a:solidFill>
                  </a:tcPr>
                </a:tc>
                <a:tc>
                  <a:txBody>
                    <a:bodyPr wrap="square"/>
                    <a:lstStyle/>
                    <a:p>
                      <a:pPr algn="l"/>
                      <a:r>
                        <a:rPr sz="1400" b="0">
                          <a:solidFill>
                            <a:srgbClr val="222B36"/>
                          </a:solidFill>
                          <a:latin typeface="Calibri"/>
                        </a:rPr>
                        <a:t>Descriptor models ≥ GNNs on average (11 datasets)</a:t>
                      </a:r>
                    </a:p>
                  </a:txBody>
                  <a:tcPr marL="73152" marR="73152" marT="27432" marB="27432" anchor="ctr">
                    <a:solidFill>
                      <a:srgbClr val="FFFFFF"/>
                    </a:solidFill>
                  </a:tcPr>
                </a:tc>
                <a:tc>
                  <a:txBody>
                    <a:bodyPr wrap="square"/>
                    <a:lstStyle/>
                    <a:p>
                      <a:pPr algn="l"/>
                      <a:r>
                        <a:rPr sz="1400" b="0">
                          <a:solidFill>
                            <a:srgbClr val="222B36"/>
                          </a:solidFill>
                          <a:latin typeface="Calibri"/>
                        </a:rPr>
                        <a:t>Classical baseline before GNNs</a:t>
                      </a:r>
                    </a:p>
                  </a:txBody>
                  <a:tcPr marL="73152" marR="73152" marT="27432" marB="27432" anchor="ctr">
                    <a:solidFill>
                      <a:srgbClr val="FFFFFF"/>
                    </a:solidFill>
                  </a:tcPr>
                </a:tc>
              </a:tr>
              <a:tr h="548640">
                <a:tc>
                  <a:txBody>
                    <a:bodyPr wrap="square"/>
                    <a:lstStyle/>
                    <a:p>
                      <a:pPr algn="l"/>
                      <a:r>
                        <a:rPr sz="1400" b="0">
                          <a:solidFill>
                            <a:srgbClr val="222B36"/>
                          </a:solidFill>
                          <a:latin typeface="Calibri"/>
                        </a:rPr>
                        <a:t>Sheridan [8]</a:t>
                      </a:r>
                    </a:p>
                  </a:txBody>
                  <a:tcPr marL="73152" marR="73152" marT="27432" marB="27432" anchor="ctr">
                    <a:solidFill>
                      <a:srgbClr val="F1F4F8"/>
                    </a:solidFill>
                  </a:tcPr>
                </a:tc>
                <a:tc>
                  <a:txBody>
                    <a:bodyPr wrap="square"/>
                    <a:lstStyle/>
                    <a:p>
                      <a:pPr algn="l"/>
                      <a:r>
                        <a:rPr sz="1400" b="0">
                          <a:solidFill>
                            <a:srgbClr val="222B36"/>
                          </a:solidFill>
                          <a:latin typeface="Calibri"/>
                        </a:rPr>
                        <a:t>Random splits overestimate prospective accuracy</a:t>
                      </a:r>
                    </a:p>
                  </a:txBody>
                  <a:tcPr marL="73152" marR="73152" marT="27432" marB="27432" anchor="ctr">
                    <a:solidFill>
                      <a:srgbClr val="F1F4F8"/>
                    </a:solidFill>
                  </a:tcPr>
                </a:tc>
                <a:tc>
                  <a:txBody>
                    <a:bodyPr wrap="square"/>
                    <a:lstStyle/>
                    <a:p>
                      <a:pPr algn="l"/>
                      <a:r>
                        <a:rPr sz="1400" b="0">
                          <a:solidFill>
                            <a:srgbClr val="222B36"/>
                          </a:solidFill>
                          <a:latin typeface="Calibri"/>
                        </a:rPr>
                        <a:t>Use structure-aware split</a:t>
                      </a:r>
                    </a:p>
                  </a:txBody>
                  <a:tcPr marL="73152" marR="73152" marT="27432" marB="27432" anchor="ctr">
                    <a:solidFill>
                      <a:srgbClr val="F1F4F8"/>
                    </a:solidFill>
                  </a:tcPr>
                </a:tc>
              </a:tr>
              <a:tr h="548640">
                <a:tc>
                  <a:txBody>
                    <a:bodyPr wrap="square"/>
                    <a:lstStyle/>
                    <a:p>
                      <a:pPr algn="l"/>
                      <a:r>
                        <a:rPr sz="1400" b="0">
                          <a:solidFill>
                            <a:srgbClr val="222B36"/>
                          </a:solidFill>
                          <a:latin typeface="Calibri"/>
                        </a:rPr>
                        <a:t>Saito &amp; Rehmsmeier [9]</a:t>
                      </a:r>
                    </a:p>
                  </a:txBody>
                  <a:tcPr marL="73152" marR="73152" marT="27432" marB="27432" anchor="ctr">
                    <a:solidFill>
                      <a:srgbClr val="FFFFFF"/>
                    </a:solidFill>
                  </a:tcPr>
                </a:tc>
                <a:tc>
                  <a:txBody>
                    <a:bodyPr wrap="square"/>
                    <a:lstStyle/>
                    <a:p>
                      <a:pPr algn="l"/>
                      <a:r>
                        <a:rPr sz="1400" b="0">
                          <a:solidFill>
                            <a:srgbClr val="222B36"/>
                          </a:solidFill>
                          <a:latin typeface="Calibri"/>
                        </a:rPr>
                        <a:t>PR is more informative than ROC under imbalance</a:t>
                      </a:r>
                    </a:p>
                  </a:txBody>
                  <a:tcPr marL="73152" marR="73152" marT="27432" marB="27432" anchor="ctr">
                    <a:solidFill>
                      <a:srgbClr val="FFFFFF"/>
                    </a:solidFill>
                  </a:tcPr>
                </a:tc>
                <a:tc>
                  <a:txBody>
                    <a:bodyPr wrap="square"/>
                    <a:lstStyle/>
                    <a:p>
                      <a:pPr algn="l"/>
                      <a:r>
                        <a:rPr sz="1400" b="0">
                          <a:solidFill>
                            <a:srgbClr val="222B36"/>
                          </a:solidFill>
                          <a:latin typeface="Calibri"/>
                        </a:rPr>
                        <a:t>Report AP with ROC-AUC</a:t>
                      </a:r>
                    </a:p>
                  </a:txBody>
                  <a:tcPr marL="73152" marR="73152" marT="27432" marB="27432"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Dataset: Tox21, curated with RDKit</a:t>
            </a:r>
          </a:p>
        </p:txBody>
      </p:sp>
      <p:sp>
        <p:nvSpPr>
          <p:cNvPr id="3" name="TextBox 2"/>
          <p:cNvSpPr txBox="1"/>
          <p:nvPr/>
        </p:nvSpPr>
        <p:spPr>
          <a:xfrm>
            <a:off x="548640" y="6355080"/>
            <a:ext cx="9601200" cy="320040"/>
          </a:xfrm>
          <a:prstGeom prst="rect">
            <a:avLst/>
          </a:prstGeom>
          <a:noFill/>
        </p:spPr>
        <p:txBody>
          <a:bodyPr wrap="square" anchor="t" lIns="45720" rIns="45720">
            <a:spAutoFit/>
          </a:bodyPr>
          <a:lstStyle/>
          <a:p>
            <a:pPr algn="l"/>
            <a:r>
              <a:rPr sz="1000" b="0" i="0">
                <a:solidFill>
                  <a:srgbClr val="5C6773"/>
                </a:solidFill>
                <a:latin typeface="Calibri"/>
              </a:rPr>
              <a:t>Source: DeepChem tox21.csv.gz (SHA-256 verified) · results/metrics/endpoint_label_diagnostics.json</a:t>
            </a:r>
          </a:p>
        </p:txBody>
      </p:sp>
      <p:sp>
        <p:nvSpPr>
          <p:cNvPr id="4" name="TextBox 3"/>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5</a:t>
            </a:r>
          </a:p>
        </p:txBody>
      </p:sp>
      <p:sp>
        <p:nvSpPr>
          <p:cNvPr id="5" name="TextBox 4"/>
          <p:cNvSpPr txBox="1"/>
          <p:nvPr/>
        </p:nvSpPr>
        <p:spPr>
          <a:xfrm>
            <a:off x="548640" y="1463040"/>
            <a:ext cx="3291840" cy="797560"/>
          </a:xfrm>
          <a:prstGeom prst="rect">
            <a:avLst/>
          </a:prstGeom>
          <a:noFill/>
        </p:spPr>
        <p:txBody>
          <a:bodyPr wrap="square" anchor="t" lIns="45720" rIns="45720">
            <a:spAutoFit/>
          </a:bodyPr>
          <a:lstStyle/>
          <a:p>
            <a:pPr algn="l"/>
            <a:r>
              <a:rPr sz="4000" b="1" i="0">
                <a:solidFill>
                  <a:srgbClr val="1B2A41"/>
                </a:solidFill>
                <a:latin typeface="Cambria"/>
              </a:rPr>
              <a:t>7,823</a:t>
            </a:r>
          </a:p>
        </p:txBody>
      </p:sp>
      <p:sp>
        <p:nvSpPr>
          <p:cNvPr id="6" name="TextBox 5"/>
          <p:cNvSpPr txBox="1"/>
          <p:nvPr/>
        </p:nvSpPr>
        <p:spPr>
          <a:xfrm>
            <a:off x="548640" y="2260600"/>
            <a:ext cx="3291840" cy="640080"/>
          </a:xfrm>
          <a:prstGeom prst="rect">
            <a:avLst/>
          </a:prstGeom>
          <a:noFill/>
        </p:spPr>
        <p:txBody>
          <a:bodyPr wrap="square" anchor="t" lIns="45720" rIns="45720">
            <a:spAutoFit/>
          </a:bodyPr>
          <a:lstStyle/>
          <a:p>
            <a:pPr algn="l"/>
            <a:r>
              <a:rPr sz="1400" b="0" i="0">
                <a:solidFill>
                  <a:srgbClr val="5C6773"/>
                </a:solidFill>
                <a:latin typeface="Calibri"/>
              </a:rPr>
              <a:t>molecules kept of 7,831
(8 excluded: Al valence errors)</a:t>
            </a:r>
          </a:p>
        </p:txBody>
      </p:sp>
      <p:sp>
        <p:nvSpPr>
          <p:cNvPr id="7" name="TextBox 6"/>
          <p:cNvSpPr txBox="1"/>
          <p:nvPr/>
        </p:nvSpPr>
        <p:spPr>
          <a:xfrm>
            <a:off x="548640" y="2971800"/>
            <a:ext cx="3291840" cy="797560"/>
          </a:xfrm>
          <a:prstGeom prst="rect">
            <a:avLst/>
          </a:prstGeom>
          <a:noFill/>
        </p:spPr>
        <p:txBody>
          <a:bodyPr wrap="square" anchor="t" lIns="45720" rIns="45720">
            <a:spAutoFit/>
          </a:bodyPr>
          <a:lstStyle/>
          <a:p>
            <a:pPr algn="l"/>
            <a:r>
              <a:rPr sz="4000" b="1" i="0">
                <a:solidFill>
                  <a:srgbClr val="1B2A41"/>
                </a:solidFill>
                <a:latin typeface="Cambria"/>
              </a:rPr>
              <a:t>12</a:t>
            </a:r>
          </a:p>
        </p:txBody>
      </p:sp>
      <p:sp>
        <p:nvSpPr>
          <p:cNvPr id="8" name="TextBox 7"/>
          <p:cNvSpPr txBox="1"/>
          <p:nvPr/>
        </p:nvSpPr>
        <p:spPr>
          <a:xfrm>
            <a:off x="548640" y="3769359"/>
            <a:ext cx="3291840" cy="640080"/>
          </a:xfrm>
          <a:prstGeom prst="rect">
            <a:avLst/>
          </a:prstGeom>
          <a:noFill/>
        </p:spPr>
        <p:txBody>
          <a:bodyPr wrap="square" anchor="t" lIns="45720" rIns="45720">
            <a:spAutoFit/>
          </a:bodyPr>
          <a:lstStyle/>
          <a:p>
            <a:pPr algn="l"/>
            <a:r>
              <a:rPr sz="1400" b="0" i="0">
                <a:solidFill>
                  <a:srgbClr val="5C6773"/>
                </a:solidFill>
                <a:latin typeface="Calibri"/>
              </a:rPr>
              <a:t>assay endpoints
(7 nuclear receptor, 5 stress response)</a:t>
            </a:r>
          </a:p>
        </p:txBody>
      </p:sp>
      <p:sp>
        <p:nvSpPr>
          <p:cNvPr id="9" name="TextBox 8"/>
          <p:cNvSpPr txBox="1"/>
          <p:nvPr/>
        </p:nvSpPr>
        <p:spPr>
          <a:xfrm>
            <a:off x="548640" y="4480560"/>
            <a:ext cx="3291840" cy="797560"/>
          </a:xfrm>
          <a:prstGeom prst="rect">
            <a:avLst/>
          </a:prstGeom>
          <a:noFill/>
        </p:spPr>
        <p:txBody>
          <a:bodyPr wrap="square" anchor="t" lIns="45720" rIns="45720">
            <a:spAutoFit/>
          </a:bodyPr>
          <a:lstStyle/>
          <a:p>
            <a:pPr algn="l"/>
            <a:r>
              <a:rPr sz="4000" b="1" i="0">
                <a:solidFill>
                  <a:srgbClr val="D55E00"/>
                </a:solidFill>
                <a:latin typeface="Cambria"/>
              </a:rPr>
              <a:t>17.1%</a:t>
            </a:r>
          </a:p>
        </p:txBody>
      </p:sp>
      <p:sp>
        <p:nvSpPr>
          <p:cNvPr id="10" name="TextBox 9"/>
          <p:cNvSpPr txBox="1"/>
          <p:nvPr/>
        </p:nvSpPr>
        <p:spPr>
          <a:xfrm>
            <a:off x="548640" y="5278120"/>
            <a:ext cx="3291840" cy="640080"/>
          </a:xfrm>
          <a:prstGeom prst="rect">
            <a:avLst/>
          </a:prstGeom>
          <a:noFill/>
        </p:spPr>
        <p:txBody>
          <a:bodyPr wrap="square" anchor="t" lIns="45720" rIns="45720">
            <a:spAutoFit/>
          </a:bodyPr>
          <a:lstStyle/>
          <a:p>
            <a:pPr algn="l"/>
            <a:r>
              <a:rPr sz="1400" b="0" i="0">
                <a:solidFill>
                  <a:srgbClr val="5C6773"/>
                </a:solidFill>
                <a:latin typeface="Calibri"/>
              </a:rPr>
              <a:t>molecule–endpoint labels missing
(masked, never imputed)</a:t>
            </a:r>
          </a:p>
        </p:txBody>
      </p:sp>
      <p:graphicFrame>
        <p:nvGraphicFramePr>
          <p:cNvPr id="11" name="Chart 10"/>
          <p:cNvGraphicFramePr>
            <a:graphicFrameLocks noGrp="1"/>
          </p:cNvGraphicFramePr>
          <p:nvPr/>
        </p:nvGraphicFramePr>
        <p:xfrm>
          <a:off x="4114800" y="1371600"/>
          <a:ext cx="7498079" cy="4846320"/>
        </p:xfrm>
        <a:graphic>
          <a:graphicData uri="http://schemas.openxmlformats.org/drawingml/2006/chart">
            <c:chart xmlns:c="http://schemas.openxmlformats.org/drawingml/2006/chart" r:id="rId3"/>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End-to-end methodology</a:t>
            </a:r>
          </a:p>
        </p:txBody>
      </p:sp>
      <p:sp>
        <p:nvSpPr>
          <p:cNvPr id="3" name="TextBox 2"/>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6</a:t>
            </a:r>
          </a:p>
        </p:txBody>
      </p:sp>
      <p:sp>
        <p:nvSpPr>
          <p:cNvPr id="4" name="Pentagon 3"/>
          <p:cNvSpPr/>
          <p:nvPr/>
        </p:nvSpPr>
        <p:spPr>
          <a:xfrm>
            <a:off x="548640" y="1828800"/>
            <a:ext cx="1463040" cy="960120"/>
          </a:xfrm>
          <a:prstGeom prst="homePlat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828800"/>
            <a:ext cx="1143000" cy="960120"/>
          </a:xfrm>
          <a:prstGeom prst="rect">
            <a:avLst/>
          </a:prstGeom>
          <a:noFill/>
        </p:spPr>
        <p:txBody>
          <a:bodyPr wrap="square" anchor="ctr" lIns="0" rIns="0" tIns="0" bIns="0">
            <a:spAutoFit/>
          </a:bodyPr>
          <a:lstStyle/>
          <a:p>
            <a:pPr algn="ctr"/>
            <a:r>
              <a:rPr sz="1300" b="1" i="0">
                <a:solidFill>
                  <a:srgbClr val="FFFFFF"/>
                </a:solidFill>
                <a:latin typeface="Calibri"/>
              </a:rPr>
              <a:t>Tox21 CSV</a:t>
            </a:r>
          </a:p>
        </p:txBody>
      </p:sp>
      <p:sp>
        <p:nvSpPr>
          <p:cNvPr id="6" name="Rounded Rectangle 5"/>
          <p:cNvSpPr/>
          <p:nvPr/>
        </p:nvSpPr>
        <p:spPr>
          <a:xfrm>
            <a:off x="594360" y="3017520"/>
            <a:ext cx="1371600" cy="16002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90672"/>
            <a:ext cx="1280160" cy="1463040"/>
          </a:xfrm>
          <a:prstGeom prst="rect">
            <a:avLst/>
          </a:prstGeom>
          <a:noFill/>
        </p:spPr>
        <p:txBody>
          <a:bodyPr wrap="square" anchor="ctr" lIns="45720" rIns="45720">
            <a:spAutoFit/>
          </a:bodyPr>
          <a:lstStyle/>
          <a:p>
            <a:pPr algn="ctr"/>
            <a:r>
              <a:rPr sz="1300" b="0" i="0">
                <a:solidFill>
                  <a:srgbClr val="222B36"/>
                </a:solidFill>
                <a:latin typeface="Calibri"/>
              </a:rPr>
              <a:t>7,831 rows
SHA-256 check</a:t>
            </a:r>
          </a:p>
        </p:txBody>
      </p:sp>
      <p:sp>
        <p:nvSpPr>
          <p:cNvPr id="8" name="Chevron 7"/>
          <p:cNvSpPr/>
          <p:nvPr/>
        </p:nvSpPr>
        <p:spPr>
          <a:xfrm>
            <a:off x="2148840" y="1828800"/>
            <a:ext cx="1463040" cy="960120"/>
          </a:xfrm>
          <a:prstGeom prst="chevron">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423160" y="1828800"/>
            <a:ext cx="960120" cy="960120"/>
          </a:xfrm>
          <a:prstGeom prst="rect">
            <a:avLst/>
          </a:prstGeom>
          <a:noFill/>
        </p:spPr>
        <p:txBody>
          <a:bodyPr wrap="square" anchor="ctr" lIns="0" rIns="0" tIns="0" bIns="0">
            <a:spAutoFit/>
          </a:bodyPr>
          <a:lstStyle/>
          <a:p>
            <a:pPr algn="ctr"/>
            <a:r>
              <a:rPr sz="1300" b="1" i="0">
                <a:solidFill>
                  <a:srgbClr val="FFFFFF"/>
                </a:solidFill>
                <a:latin typeface="Calibri"/>
              </a:rPr>
              <a:t>Curate</a:t>
            </a:r>
          </a:p>
        </p:txBody>
      </p:sp>
      <p:sp>
        <p:nvSpPr>
          <p:cNvPr id="10" name="Rounded Rectangle 9"/>
          <p:cNvSpPr/>
          <p:nvPr/>
        </p:nvSpPr>
        <p:spPr>
          <a:xfrm>
            <a:off x="2194560" y="3017520"/>
            <a:ext cx="1371600" cy="16002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40280" y="3090672"/>
            <a:ext cx="1280160" cy="1463040"/>
          </a:xfrm>
          <a:prstGeom prst="rect">
            <a:avLst/>
          </a:prstGeom>
          <a:noFill/>
        </p:spPr>
        <p:txBody>
          <a:bodyPr wrap="square" anchor="ctr" lIns="45720" rIns="45720">
            <a:spAutoFit/>
          </a:bodyPr>
          <a:lstStyle/>
          <a:p>
            <a:pPr algn="ctr"/>
            <a:r>
              <a:rPr sz="1300" b="0" i="0">
                <a:solidFill>
                  <a:srgbClr val="222B36"/>
                </a:solidFill>
                <a:latin typeface="Calibri"/>
              </a:rPr>
              <a:t>RDKit sanitise
canonical SMILES
7,823 kept</a:t>
            </a:r>
          </a:p>
        </p:txBody>
      </p:sp>
      <p:sp>
        <p:nvSpPr>
          <p:cNvPr id="12" name="Chevron 11"/>
          <p:cNvSpPr/>
          <p:nvPr/>
        </p:nvSpPr>
        <p:spPr>
          <a:xfrm>
            <a:off x="3749039" y="1828800"/>
            <a:ext cx="1463040" cy="960120"/>
          </a:xfrm>
          <a:prstGeom prst="chevron">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23359" y="1828800"/>
            <a:ext cx="960120" cy="960120"/>
          </a:xfrm>
          <a:prstGeom prst="rect">
            <a:avLst/>
          </a:prstGeom>
          <a:noFill/>
        </p:spPr>
        <p:txBody>
          <a:bodyPr wrap="square" anchor="ctr" lIns="0" rIns="0" tIns="0" bIns="0">
            <a:spAutoFit/>
          </a:bodyPr>
          <a:lstStyle/>
          <a:p>
            <a:pPr algn="ctr"/>
            <a:r>
              <a:rPr sz="1300" b="1" i="0">
                <a:solidFill>
                  <a:srgbClr val="FFFFFF"/>
                </a:solidFill>
                <a:latin typeface="Calibri"/>
              </a:rPr>
              <a:t>Featurise</a:t>
            </a:r>
          </a:p>
        </p:txBody>
      </p:sp>
      <p:sp>
        <p:nvSpPr>
          <p:cNvPr id="14" name="Rounded Rectangle 13"/>
          <p:cNvSpPr/>
          <p:nvPr/>
        </p:nvSpPr>
        <p:spPr>
          <a:xfrm>
            <a:off x="3794759" y="3017520"/>
            <a:ext cx="1371600" cy="16002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79" y="3090672"/>
            <a:ext cx="1280160" cy="1463040"/>
          </a:xfrm>
          <a:prstGeom prst="rect">
            <a:avLst/>
          </a:prstGeom>
          <a:noFill/>
        </p:spPr>
        <p:txBody>
          <a:bodyPr wrap="square" anchor="ctr" lIns="45720" rIns="45720">
            <a:spAutoFit/>
          </a:bodyPr>
          <a:lstStyle/>
          <a:p>
            <a:pPr algn="ctr"/>
            <a:r>
              <a:rPr sz="1300" b="0" i="0">
                <a:solidFill>
                  <a:srgbClr val="222B36"/>
                </a:solidFill>
                <a:latin typeface="Calibri"/>
              </a:rPr>
              <a:t>Morgan 2048
+ 9 descriptors
= 2057</a:t>
            </a:r>
          </a:p>
        </p:txBody>
      </p:sp>
      <p:sp>
        <p:nvSpPr>
          <p:cNvPr id="16" name="Chevron 15"/>
          <p:cNvSpPr/>
          <p:nvPr/>
        </p:nvSpPr>
        <p:spPr>
          <a:xfrm>
            <a:off x="5349240" y="1828800"/>
            <a:ext cx="1463040" cy="960120"/>
          </a:xfrm>
          <a:prstGeom prst="chevron">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59" y="1828800"/>
            <a:ext cx="960120" cy="960120"/>
          </a:xfrm>
          <a:prstGeom prst="rect">
            <a:avLst/>
          </a:prstGeom>
          <a:noFill/>
        </p:spPr>
        <p:txBody>
          <a:bodyPr wrap="square" anchor="ctr" lIns="0" rIns="0" tIns="0" bIns="0">
            <a:spAutoFit/>
          </a:bodyPr>
          <a:lstStyle/>
          <a:p>
            <a:pPr algn="ctr"/>
            <a:r>
              <a:rPr sz="1300" b="1" i="0">
                <a:solidFill>
                  <a:srgbClr val="FFFFFF"/>
                </a:solidFill>
                <a:latin typeface="Calibri"/>
              </a:rPr>
              <a:t>Scaffold split</a:t>
            </a:r>
          </a:p>
        </p:txBody>
      </p:sp>
      <p:sp>
        <p:nvSpPr>
          <p:cNvPr id="18" name="Rounded Rectangle 17"/>
          <p:cNvSpPr/>
          <p:nvPr/>
        </p:nvSpPr>
        <p:spPr>
          <a:xfrm>
            <a:off x="5394959" y="3017520"/>
            <a:ext cx="1371600" cy="16002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40679" y="3090672"/>
            <a:ext cx="1280160" cy="1463040"/>
          </a:xfrm>
          <a:prstGeom prst="rect">
            <a:avLst/>
          </a:prstGeom>
          <a:noFill/>
        </p:spPr>
        <p:txBody>
          <a:bodyPr wrap="square" anchor="ctr" lIns="45720" rIns="45720">
            <a:spAutoFit/>
          </a:bodyPr>
          <a:lstStyle/>
          <a:p>
            <a:pPr algn="ctr"/>
            <a:r>
              <a:rPr sz="1300" b="0" i="0">
                <a:solidFill>
                  <a:srgbClr val="222B36"/>
                </a:solidFill>
                <a:latin typeface="Calibri"/>
              </a:rPr>
              <a:t>6,258 / 782 / 783
0 overlap</a:t>
            </a:r>
          </a:p>
        </p:txBody>
      </p:sp>
      <p:sp>
        <p:nvSpPr>
          <p:cNvPr id="20" name="Chevron 19"/>
          <p:cNvSpPr/>
          <p:nvPr/>
        </p:nvSpPr>
        <p:spPr>
          <a:xfrm>
            <a:off x="6949440" y="1828800"/>
            <a:ext cx="1463040" cy="960120"/>
          </a:xfrm>
          <a:prstGeom prst="chevron">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59" y="1828800"/>
            <a:ext cx="960120" cy="960120"/>
          </a:xfrm>
          <a:prstGeom prst="rect">
            <a:avLst/>
          </a:prstGeom>
          <a:noFill/>
        </p:spPr>
        <p:txBody>
          <a:bodyPr wrap="square" anchor="ctr" lIns="0" rIns="0" tIns="0" bIns="0">
            <a:spAutoFit/>
          </a:bodyPr>
          <a:lstStyle/>
          <a:p>
            <a:pPr algn="ctr"/>
            <a:r>
              <a:rPr sz="1300" b="1" i="0">
                <a:solidFill>
                  <a:srgbClr val="FFFFFF"/>
                </a:solidFill>
                <a:latin typeface="Calibri"/>
              </a:rPr>
              <a:t>Train</a:t>
            </a:r>
          </a:p>
        </p:txBody>
      </p:sp>
      <p:sp>
        <p:nvSpPr>
          <p:cNvPr id="22" name="Rounded Rectangle 21"/>
          <p:cNvSpPr/>
          <p:nvPr/>
        </p:nvSpPr>
        <p:spPr>
          <a:xfrm>
            <a:off x="6995159" y="3017520"/>
            <a:ext cx="1371600" cy="16002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79" y="3090672"/>
            <a:ext cx="1280160" cy="1463040"/>
          </a:xfrm>
          <a:prstGeom prst="rect">
            <a:avLst/>
          </a:prstGeom>
          <a:noFill/>
        </p:spPr>
        <p:txBody>
          <a:bodyPr wrap="square" anchor="ctr" lIns="45720" rIns="45720">
            <a:spAutoFit/>
          </a:bodyPr>
          <a:lstStyle/>
          <a:p>
            <a:pPr algn="ctr"/>
            <a:r>
              <a:rPr sz="1300" b="0" i="0">
                <a:solidFill>
                  <a:srgbClr val="222B36"/>
                </a:solidFill>
                <a:latin typeface="Calibri"/>
              </a:rPr>
              <a:t>LR · RF · XGB
per endpoint
NaN masked</a:t>
            </a:r>
          </a:p>
        </p:txBody>
      </p:sp>
      <p:sp>
        <p:nvSpPr>
          <p:cNvPr id="24" name="Chevron 23"/>
          <p:cNvSpPr/>
          <p:nvPr/>
        </p:nvSpPr>
        <p:spPr>
          <a:xfrm>
            <a:off x="8549640" y="1828800"/>
            <a:ext cx="1463040" cy="960120"/>
          </a:xfrm>
          <a:prstGeom prst="chevron">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823960" y="1828800"/>
            <a:ext cx="960120" cy="960120"/>
          </a:xfrm>
          <a:prstGeom prst="rect">
            <a:avLst/>
          </a:prstGeom>
          <a:noFill/>
        </p:spPr>
        <p:txBody>
          <a:bodyPr wrap="square" anchor="ctr" lIns="0" rIns="0" tIns="0" bIns="0">
            <a:spAutoFit/>
          </a:bodyPr>
          <a:lstStyle/>
          <a:p>
            <a:pPr algn="ctr"/>
            <a:r>
              <a:rPr sz="1300" b="1" i="0">
                <a:solidFill>
                  <a:srgbClr val="FFFFFF"/>
                </a:solidFill>
                <a:latin typeface="Calibri"/>
              </a:rPr>
              <a:t>Threshold</a:t>
            </a:r>
          </a:p>
        </p:txBody>
      </p:sp>
      <p:sp>
        <p:nvSpPr>
          <p:cNvPr id="26" name="Rounded Rectangle 25"/>
          <p:cNvSpPr/>
          <p:nvPr/>
        </p:nvSpPr>
        <p:spPr>
          <a:xfrm>
            <a:off x="8595360" y="3017520"/>
            <a:ext cx="1371600" cy="16002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41080" y="3090672"/>
            <a:ext cx="1280160" cy="1463040"/>
          </a:xfrm>
          <a:prstGeom prst="rect">
            <a:avLst/>
          </a:prstGeom>
          <a:noFill/>
        </p:spPr>
        <p:txBody>
          <a:bodyPr wrap="square" anchor="ctr" lIns="45720" rIns="45720">
            <a:spAutoFit/>
          </a:bodyPr>
          <a:lstStyle/>
          <a:p>
            <a:pPr algn="ctr"/>
            <a:r>
              <a:rPr sz="1300" b="0" i="0">
                <a:solidFill>
                  <a:srgbClr val="222B36"/>
                </a:solidFill>
                <a:latin typeface="Calibri"/>
              </a:rPr>
              <a:t>max F1 on
validation only</a:t>
            </a:r>
          </a:p>
        </p:txBody>
      </p:sp>
      <p:sp>
        <p:nvSpPr>
          <p:cNvPr id="28" name="Chevron 27"/>
          <p:cNvSpPr/>
          <p:nvPr/>
        </p:nvSpPr>
        <p:spPr>
          <a:xfrm>
            <a:off x="10149840" y="1828800"/>
            <a:ext cx="1463040" cy="960120"/>
          </a:xfrm>
          <a:prstGeom prst="chevron">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24160" y="1828800"/>
            <a:ext cx="960120" cy="960120"/>
          </a:xfrm>
          <a:prstGeom prst="rect">
            <a:avLst/>
          </a:prstGeom>
          <a:noFill/>
        </p:spPr>
        <p:txBody>
          <a:bodyPr wrap="square" anchor="ctr" lIns="0" rIns="0" tIns="0" bIns="0">
            <a:spAutoFit/>
          </a:bodyPr>
          <a:lstStyle/>
          <a:p>
            <a:pPr algn="ctr"/>
            <a:r>
              <a:rPr sz="1300" b="1" i="0">
                <a:solidFill>
                  <a:srgbClr val="FFFFFF"/>
                </a:solidFill>
                <a:latin typeface="Calibri"/>
              </a:rPr>
              <a:t>Test</a:t>
            </a:r>
          </a:p>
        </p:txBody>
      </p:sp>
      <p:sp>
        <p:nvSpPr>
          <p:cNvPr id="30" name="Rounded Rectangle 29"/>
          <p:cNvSpPr/>
          <p:nvPr/>
        </p:nvSpPr>
        <p:spPr>
          <a:xfrm>
            <a:off x="10195560" y="3017520"/>
            <a:ext cx="1371600" cy="16002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1280" y="3090672"/>
            <a:ext cx="1280160" cy="1463040"/>
          </a:xfrm>
          <a:prstGeom prst="rect">
            <a:avLst/>
          </a:prstGeom>
          <a:noFill/>
        </p:spPr>
        <p:txBody>
          <a:bodyPr wrap="square" anchor="ctr" lIns="45720" rIns="45720">
            <a:spAutoFit/>
          </a:bodyPr>
          <a:lstStyle/>
          <a:p>
            <a:pPr algn="ctr"/>
            <a:r>
              <a:rPr sz="1300" b="0" i="0">
                <a:solidFill>
                  <a:srgbClr val="222B36"/>
                </a:solidFill>
                <a:latin typeface="Calibri"/>
              </a:rPr>
              <a:t>ROC-AUC · AP · F1
macro over 12</a:t>
            </a:r>
          </a:p>
        </p:txBody>
      </p:sp>
      <p:sp>
        <p:nvSpPr>
          <p:cNvPr id="32" name="Rounded Rectangle 31"/>
          <p:cNvSpPr/>
          <p:nvPr/>
        </p:nvSpPr>
        <p:spPr>
          <a:xfrm>
            <a:off x="548640" y="4983480"/>
            <a:ext cx="11064240" cy="1051560"/>
          </a:xfrm>
          <a:prstGeom prst="roundRect">
            <a:avLst>
              <a:gd name="adj" fmla="val 8000"/>
            </a:avLst>
          </a:prstGeom>
          <a:solidFill>
            <a:srgbClr val="FFFFFF"/>
          </a:solidFill>
          <a:ln w="12700">
            <a:solidFill>
              <a:srgbClr val="C8D0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40" y="5029200"/>
            <a:ext cx="10607040" cy="960120"/>
          </a:xfrm>
          <a:prstGeom prst="rect">
            <a:avLst/>
          </a:prstGeom>
          <a:noFill/>
        </p:spPr>
        <p:txBody>
          <a:bodyPr wrap="square" anchor="ctr" lIns="45720" rIns="45720">
            <a:spAutoFit/>
          </a:bodyPr>
          <a:lstStyle/>
          <a:p>
            <a:pPr algn="l"/>
            <a:r>
              <a:rPr sz="1600" b="1" i="0">
                <a:solidFill>
                  <a:srgbClr val="1B2A41"/>
                </a:solidFill>
                <a:latin typeface="Calibri"/>
              </a:rPr>
              <a:t>Leakage controls:  </a:t>
            </a:r>
            <a:r>
              <a:rPr sz="1600" b="0" i="0">
                <a:solidFill>
                  <a:srgbClr val="222B36"/>
                </a:solidFill>
                <a:latin typeface="Calibri"/>
              </a:rPr>
              <a:t>descriptor scaling fitted on training rows only  ·  thresholds chosen on validation only  ·  test labels used only for the final metrics  ·  all seeds = 42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Three molecular representations</a:t>
            </a:r>
          </a:p>
        </p:txBody>
      </p:sp>
      <p:sp>
        <p:nvSpPr>
          <p:cNvPr id="3" name="TextBox 2"/>
          <p:cNvSpPr txBox="1"/>
          <p:nvPr/>
        </p:nvSpPr>
        <p:spPr>
          <a:xfrm>
            <a:off x="548640" y="6355080"/>
            <a:ext cx="9601200" cy="320040"/>
          </a:xfrm>
          <a:prstGeom prst="rect">
            <a:avLst/>
          </a:prstGeom>
          <a:noFill/>
        </p:spPr>
        <p:txBody>
          <a:bodyPr wrap="square" anchor="t" lIns="45720" rIns="45720">
            <a:spAutoFit/>
          </a:bodyPr>
          <a:lstStyle/>
          <a:p>
            <a:pPr algn="l"/>
            <a:r>
              <a:rPr sz="1000" b="0" i="0">
                <a:solidFill>
                  <a:srgbClr val="5C6773"/>
                </a:solidFill>
                <a:latin typeface="Calibri"/>
              </a:rPr>
              <a:t>[10] Rogers &amp; Hahn 2010 · [11] Wildman &amp; Crippen 1999 · [12] Ertl 2000 · [13] Lipinski 1997 · [14] Lovering 2009</a:t>
            </a:r>
          </a:p>
        </p:txBody>
      </p:sp>
      <p:sp>
        <p:nvSpPr>
          <p:cNvPr id="4" name="TextBox 3"/>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7</a:t>
            </a:r>
          </a:p>
        </p:txBody>
      </p:sp>
      <p:sp>
        <p:nvSpPr>
          <p:cNvPr id="5" name="Rounded Rectangle 4"/>
          <p:cNvSpPr/>
          <p:nvPr/>
        </p:nvSpPr>
        <p:spPr>
          <a:xfrm>
            <a:off x="548640" y="1463040"/>
            <a:ext cx="3474720" cy="45720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645920"/>
            <a:ext cx="2926080" cy="822960"/>
          </a:xfrm>
          <a:prstGeom prst="rect">
            <a:avLst/>
          </a:prstGeom>
          <a:noFill/>
        </p:spPr>
        <p:txBody>
          <a:bodyPr wrap="square" anchor="t" lIns="45720" rIns="45720">
            <a:spAutoFit/>
          </a:bodyPr>
          <a:lstStyle/>
          <a:p>
            <a:pPr algn="l"/>
            <a:r>
              <a:rPr sz="4400" b="1" i="0">
                <a:solidFill>
                  <a:srgbClr val="0072B2"/>
                </a:solidFill>
                <a:latin typeface="Cambria"/>
              </a:rPr>
              <a:t>2,048</a:t>
            </a:r>
          </a:p>
        </p:txBody>
      </p:sp>
      <p:sp>
        <p:nvSpPr>
          <p:cNvPr id="7" name="TextBox 6"/>
          <p:cNvSpPr txBox="1"/>
          <p:nvPr/>
        </p:nvSpPr>
        <p:spPr>
          <a:xfrm>
            <a:off x="822959" y="2468880"/>
            <a:ext cx="2926080" cy="365760"/>
          </a:xfrm>
          <a:prstGeom prst="rect">
            <a:avLst/>
          </a:prstGeom>
          <a:noFill/>
        </p:spPr>
        <p:txBody>
          <a:bodyPr wrap="square" anchor="t" lIns="45720" rIns="45720">
            <a:spAutoFit/>
          </a:bodyPr>
          <a:lstStyle/>
          <a:p>
            <a:pPr algn="l"/>
            <a:r>
              <a:rPr sz="1200" b="0" i="0">
                <a:solidFill>
                  <a:srgbClr val="5C6773"/>
                </a:solidFill>
                <a:latin typeface="Calibri"/>
              </a:rPr>
              <a:t>dimensions</a:t>
            </a:r>
          </a:p>
        </p:txBody>
      </p:sp>
      <p:sp>
        <p:nvSpPr>
          <p:cNvPr id="8" name="TextBox 7"/>
          <p:cNvSpPr txBox="1"/>
          <p:nvPr/>
        </p:nvSpPr>
        <p:spPr>
          <a:xfrm>
            <a:off x="822959" y="2880360"/>
            <a:ext cx="2926080" cy="502920"/>
          </a:xfrm>
          <a:prstGeom prst="rect">
            <a:avLst/>
          </a:prstGeom>
          <a:noFill/>
        </p:spPr>
        <p:txBody>
          <a:bodyPr wrap="square" anchor="t" lIns="45720" rIns="45720">
            <a:spAutoFit/>
          </a:bodyPr>
          <a:lstStyle/>
          <a:p>
            <a:pPr algn="l"/>
            <a:r>
              <a:rPr sz="2000" b="1" i="0">
                <a:solidFill>
                  <a:srgbClr val="1B2A41"/>
                </a:solidFill>
                <a:latin typeface="Cambria"/>
              </a:rPr>
              <a:t>Morgan fingerprint</a:t>
            </a:r>
          </a:p>
        </p:txBody>
      </p:sp>
      <p:sp>
        <p:nvSpPr>
          <p:cNvPr id="9" name="TextBox 8"/>
          <p:cNvSpPr txBox="1"/>
          <p:nvPr/>
        </p:nvSpPr>
        <p:spPr>
          <a:xfrm>
            <a:off x="822959" y="3474720"/>
            <a:ext cx="3017520" cy="2377440"/>
          </a:xfrm>
          <a:prstGeom prst="rect">
            <a:avLst/>
          </a:prstGeom>
          <a:noFill/>
        </p:spPr>
        <p:txBody>
          <a:bodyPr wrap="square" lIns="45720" rIns="45720">
            <a:spAutoFit/>
          </a:bodyPr>
          <a:lstStyle/>
          <a:p>
            <a:pPr marL="228600" indent="-228600">
              <a:spcAft>
                <a:spcPts val="800"/>
              </a:spcAft>
              <a:buChar char="•"/>
            </a:pPr>
            <a:r>
              <a:rPr sz="1500" b="0">
                <a:solidFill>
                  <a:srgbClr val="222B36"/>
                </a:solidFill>
                <a:latin typeface="Calibri"/>
              </a:rPr>
              <a:t>Radius 2 (ECFP4-like) [10]</a:t>
            </a:r>
          </a:p>
          <a:p>
            <a:pPr marL="228600" indent="-228600">
              <a:spcAft>
                <a:spcPts val="800"/>
              </a:spcAft>
              <a:buChar char="•"/>
            </a:pPr>
            <a:r>
              <a:rPr sz="1500" b="0">
                <a:solidFill>
                  <a:srgbClr val="222B36"/>
                </a:solidFill>
                <a:latin typeface="Calibri"/>
              </a:rPr>
              <a:t>Binary, hashed circular environments</a:t>
            </a:r>
          </a:p>
          <a:p>
            <a:pPr marL="228600" indent="-228600">
              <a:spcAft>
                <a:spcPts val="800"/>
              </a:spcAft>
              <a:buChar char="•"/>
            </a:pPr>
            <a:r>
              <a:rPr sz="1500" b="0">
                <a:solidFill>
                  <a:srgbClr val="222B36"/>
                </a:solidFill>
                <a:latin typeface="Calibri"/>
              </a:rPr>
              <a:t>Local substructures; collisions possible</a:t>
            </a:r>
          </a:p>
        </p:txBody>
      </p:sp>
      <p:sp>
        <p:nvSpPr>
          <p:cNvPr id="10" name="Rounded Rectangle 9"/>
          <p:cNvSpPr/>
          <p:nvPr/>
        </p:nvSpPr>
        <p:spPr>
          <a:xfrm>
            <a:off x="4297679" y="1463040"/>
            <a:ext cx="3474720" cy="45720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1999" y="1645920"/>
            <a:ext cx="2926080" cy="822960"/>
          </a:xfrm>
          <a:prstGeom prst="rect">
            <a:avLst/>
          </a:prstGeom>
          <a:noFill/>
        </p:spPr>
        <p:txBody>
          <a:bodyPr wrap="square" anchor="t" lIns="45720" rIns="45720">
            <a:spAutoFit/>
          </a:bodyPr>
          <a:lstStyle/>
          <a:p>
            <a:pPr algn="l"/>
            <a:r>
              <a:rPr sz="4400" b="1" i="0">
                <a:solidFill>
                  <a:srgbClr val="E69F00"/>
                </a:solidFill>
                <a:latin typeface="Cambria"/>
              </a:rPr>
              <a:t>9</a:t>
            </a:r>
          </a:p>
        </p:txBody>
      </p:sp>
      <p:sp>
        <p:nvSpPr>
          <p:cNvPr id="12" name="TextBox 11"/>
          <p:cNvSpPr txBox="1"/>
          <p:nvPr/>
        </p:nvSpPr>
        <p:spPr>
          <a:xfrm>
            <a:off x="4571999" y="2468880"/>
            <a:ext cx="2926080" cy="365760"/>
          </a:xfrm>
          <a:prstGeom prst="rect">
            <a:avLst/>
          </a:prstGeom>
          <a:noFill/>
        </p:spPr>
        <p:txBody>
          <a:bodyPr wrap="square" anchor="t" lIns="45720" rIns="45720">
            <a:spAutoFit/>
          </a:bodyPr>
          <a:lstStyle/>
          <a:p>
            <a:pPr algn="l"/>
            <a:r>
              <a:rPr sz="1200" b="0" i="0">
                <a:solidFill>
                  <a:srgbClr val="5C6773"/>
                </a:solidFill>
                <a:latin typeface="Calibri"/>
              </a:rPr>
              <a:t>dimensions</a:t>
            </a:r>
          </a:p>
        </p:txBody>
      </p:sp>
      <p:sp>
        <p:nvSpPr>
          <p:cNvPr id="13" name="TextBox 12"/>
          <p:cNvSpPr txBox="1"/>
          <p:nvPr/>
        </p:nvSpPr>
        <p:spPr>
          <a:xfrm>
            <a:off x="4571999" y="2880360"/>
            <a:ext cx="2926080" cy="502920"/>
          </a:xfrm>
          <a:prstGeom prst="rect">
            <a:avLst/>
          </a:prstGeom>
          <a:noFill/>
        </p:spPr>
        <p:txBody>
          <a:bodyPr wrap="square" anchor="t" lIns="45720" rIns="45720">
            <a:spAutoFit/>
          </a:bodyPr>
          <a:lstStyle/>
          <a:p>
            <a:pPr algn="l"/>
            <a:r>
              <a:rPr sz="2000" b="1" i="0">
                <a:solidFill>
                  <a:srgbClr val="1B2A41"/>
                </a:solidFill>
                <a:latin typeface="Cambria"/>
              </a:rPr>
              <a:t>RDKit descriptors</a:t>
            </a:r>
          </a:p>
        </p:txBody>
      </p:sp>
      <p:sp>
        <p:nvSpPr>
          <p:cNvPr id="14" name="TextBox 13"/>
          <p:cNvSpPr txBox="1"/>
          <p:nvPr/>
        </p:nvSpPr>
        <p:spPr>
          <a:xfrm>
            <a:off x="4571999" y="3474720"/>
            <a:ext cx="3017520" cy="2377440"/>
          </a:xfrm>
          <a:prstGeom prst="rect">
            <a:avLst/>
          </a:prstGeom>
          <a:noFill/>
        </p:spPr>
        <p:txBody>
          <a:bodyPr wrap="square" lIns="45720" rIns="45720">
            <a:spAutoFit/>
          </a:bodyPr>
          <a:lstStyle/>
          <a:p>
            <a:pPr marL="228600" indent="-228600">
              <a:spcAft>
                <a:spcPts val="800"/>
              </a:spcAft>
              <a:buChar char="•"/>
            </a:pPr>
            <a:r>
              <a:rPr sz="1500" b="0">
                <a:solidFill>
                  <a:srgbClr val="222B36"/>
                </a:solidFill>
                <a:latin typeface="Calibri"/>
              </a:rPr>
              <a:t>MW, logP [11], TPSA [12], HBD/HBA [13]</a:t>
            </a:r>
          </a:p>
          <a:p>
            <a:pPr marL="228600" indent="-228600">
              <a:spcAft>
                <a:spcPts val="800"/>
              </a:spcAft>
              <a:buChar char="•"/>
            </a:pPr>
            <a:r>
              <a:rPr sz="1500" b="0">
                <a:solidFill>
                  <a:srgbClr val="222B36"/>
                </a:solidFill>
                <a:latin typeface="Calibri"/>
              </a:rPr>
              <a:t>Rot. bonds, rings, heavy atoms, Fsp³ [14]</a:t>
            </a:r>
          </a:p>
          <a:p>
            <a:pPr marL="228600" indent="-228600">
              <a:spcAft>
                <a:spcPts val="800"/>
              </a:spcAft>
              <a:buChar char="•"/>
            </a:pPr>
            <a:r>
              <a:rPr sz="1500" b="0">
                <a:solidFill>
                  <a:srgbClr val="222B36"/>
                </a:solidFill>
                <a:latin typeface="Calibri"/>
              </a:rPr>
              <a:t>Standardised on train only</a:t>
            </a:r>
          </a:p>
        </p:txBody>
      </p:sp>
      <p:sp>
        <p:nvSpPr>
          <p:cNvPr id="15" name="Rounded Rectangle 14"/>
          <p:cNvSpPr/>
          <p:nvPr/>
        </p:nvSpPr>
        <p:spPr>
          <a:xfrm>
            <a:off x="8046719" y="1463040"/>
            <a:ext cx="3474720" cy="45720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40" y="1645920"/>
            <a:ext cx="2926080" cy="822960"/>
          </a:xfrm>
          <a:prstGeom prst="rect">
            <a:avLst/>
          </a:prstGeom>
          <a:noFill/>
        </p:spPr>
        <p:txBody>
          <a:bodyPr wrap="square" anchor="t" lIns="45720" rIns="45720">
            <a:spAutoFit/>
          </a:bodyPr>
          <a:lstStyle/>
          <a:p>
            <a:pPr algn="l"/>
            <a:r>
              <a:rPr sz="4400" b="1" i="0">
                <a:solidFill>
                  <a:srgbClr val="009E73"/>
                </a:solidFill>
                <a:latin typeface="Cambria"/>
              </a:rPr>
              <a:t>2,057</a:t>
            </a:r>
          </a:p>
        </p:txBody>
      </p:sp>
      <p:sp>
        <p:nvSpPr>
          <p:cNvPr id="17" name="TextBox 16"/>
          <p:cNvSpPr txBox="1"/>
          <p:nvPr/>
        </p:nvSpPr>
        <p:spPr>
          <a:xfrm>
            <a:off x="8321040" y="2468880"/>
            <a:ext cx="2926080" cy="365760"/>
          </a:xfrm>
          <a:prstGeom prst="rect">
            <a:avLst/>
          </a:prstGeom>
          <a:noFill/>
        </p:spPr>
        <p:txBody>
          <a:bodyPr wrap="square" anchor="t" lIns="45720" rIns="45720">
            <a:spAutoFit/>
          </a:bodyPr>
          <a:lstStyle/>
          <a:p>
            <a:pPr algn="l"/>
            <a:r>
              <a:rPr sz="1200" b="0" i="0">
                <a:solidFill>
                  <a:srgbClr val="5C6773"/>
                </a:solidFill>
                <a:latin typeface="Calibri"/>
              </a:rPr>
              <a:t>dimensions</a:t>
            </a:r>
          </a:p>
        </p:txBody>
      </p:sp>
      <p:sp>
        <p:nvSpPr>
          <p:cNvPr id="18" name="TextBox 17"/>
          <p:cNvSpPr txBox="1"/>
          <p:nvPr/>
        </p:nvSpPr>
        <p:spPr>
          <a:xfrm>
            <a:off x="8321040" y="2880360"/>
            <a:ext cx="2926080" cy="502920"/>
          </a:xfrm>
          <a:prstGeom prst="rect">
            <a:avLst/>
          </a:prstGeom>
          <a:noFill/>
        </p:spPr>
        <p:txBody>
          <a:bodyPr wrap="square" anchor="t" lIns="45720" rIns="45720">
            <a:spAutoFit/>
          </a:bodyPr>
          <a:lstStyle/>
          <a:p>
            <a:pPr algn="l"/>
            <a:r>
              <a:rPr sz="2000" b="1" i="0">
                <a:solidFill>
                  <a:srgbClr val="1B2A41"/>
                </a:solidFill>
                <a:latin typeface="Cambria"/>
              </a:rPr>
              <a:t>Combined</a:t>
            </a:r>
          </a:p>
        </p:txBody>
      </p:sp>
      <p:sp>
        <p:nvSpPr>
          <p:cNvPr id="19" name="TextBox 18"/>
          <p:cNvSpPr txBox="1"/>
          <p:nvPr/>
        </p:nvSpPr>
        <p:spPr>
          <a:xfrm>
            <a:off x="8321040" y="3474720"/>
            <a:ext cx="3017520" cy="2377440"/>
          </a:xfrm>
          <a:prstGeom prst="rect">
            <a:avLst/>
          </a:prstGeom>
          <a:noFill/>
        </p:spPr>
        <p:txBody>
          <a:bodyPr wrap="square" lIns="45720" rIns="45720">
            <a:spAutoFit/>
          </a:bodyPr>
          <a:lstStyle/>
          <a:p>
            <a:pPr marL="228600" indent="-228600">
              <a:spcAft>
                <a:spcPts val="800"/>
              </a:spcAft>
              <a:buChar char="•"/>
            </a:pPr>
            <a:r>
              <a:rPr sz="1500" b="0">
                <a:solidFill>
                  <a:srgbClr val="222B36"/>
                </a:solidFill>
                <a:latin typeface="Calibri"/>
              </a:rPr>
              <a:t>Concatenation [Morgan ‖ descriptors]</a:t>
            </a:r>
          </a:p>
          <a:p>
            <a:pPr marL="228600" indent="-228600">
              <a:spcAft>
                <a:spcPts val="800"/>
              </a:spcAft>
              <a:buChar char="•"/>
            </a:pPr>
            <a:r>
              <a:rPr sz="1500" b="0">
                <a:solidFill>
                  <a:srgbClr val="222B36"/>
                </a:solidFill>
                <a:latin typeface="Calibri"/>
              </a:rPr>
              <a:t>Local + global information</a:t>
            </a:r>
          </a:p>
          <a:p>
            <a:pPr marL="228600" indent="-228600">
              <a:spcAft>
                <a:spcPts val="800"/>
              </a:spcAft>
              <a:buChar char="•"/>
            </a:pPr>
            <a:r>
              <a:rPr sz="1500" b="0">
                <a:solidFill>
                  <a:srgbClr val="222B36"/>
                </a:solidFill>
                <a:latin typeface="Calibri"/>
              </a:rPr>
              <a:t>Bits unscaled; descriptors scaled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Scaffold split: testing on unseen chemotypes</a:t>
            </a:r>
          </a:p>
        </p:txBody>
      </p:sp>
      <p:sp>
        <p:nvSpPr>
          <p:cNvPr id="3" name="TextBox 2"/>
          <p:cNvSpPr txBox="1"/>
          <p:nvPr/>
        </p:nvSpPr>
        <p:spPr>
          <a:xfrm>
            <a:off x="548640" y="6355080"/>
            <a:ext cx="9601200" cy="320040"/>
          </a:xfrm>
          <a:prstGeom prst="rect">
            <a:avLst/>
          </a:prstGeom>
          <a:noFill/>
        </p:spPr>
        <p:txBody>
          <a:bodyPr wrap="square" anchor="t" lIns="45720" rIns="45720">
            <a:spAutoFit/>
          </a:bodyPr>
          <a:lstStyle/>
          <a:p>
            <a:pPr algn="l"/>
            <a:r>
              <a:rPr sz="1000" b="0" i="0">
                <a:solidFill>
                  <a:srgbClr val="5C6773"/>
                </a:solidFill>
                <a:latin typeface="Calibri"/>
              </a:rPr>
              <a:t>[15] Bemis &amp; Murcko 1996 · [5] Wu et al. 2018</a:t>
            </a:r>
          </a:p>
        </p:txBody>
      </p:sp>
      <p:sp>
        <p:nvSpPr>
          <p:cNvPr id="4" name="TextBox 3"/>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8</a:t>
            </a:r>
          </a:p>
        </p:txBody>
      </p:sp>
      <p:sp>
        <p:nvSpPr>
          <p:cNvPr id="5" name="Rounded Rectangle 4"/>
          <p:cNvSpPr/>
          <p:nvPr/>
        </p:nvSpPr>
        <p:spPr>
          <a:xfrm>
            <a:off x="548640" y="1463040"/>
            <a:ext cx="7589519" cy="1325880"/>
          </a:xfrm>
          <a:prstGeom prst="roundRect">
            <a:avLst>
              <a:gd name="adj" fmla="val 5000"/>
            </a:avLst>
          </a:prstGeom>
          <a:solidFill>
            <a:srgbClr val="2C3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08760"/>
            <a:ext cx="7315199" cy="1234440"/>
          </a:xfrm>
          <a:prstGeom prst="rect">
            <a:avLst/>
          </a:prstGeom>
          <a:noFill/>
        </p:spPr>
        <p:txBody>
          <a:bodyPr wrap="square" anchor="ctr" lIns="45720" rIns="45720">
            <a:spAutoFit/>
          </a:bodyPr>
          <a:lstStyle/>
          <a:p>
            <a:pPr algn="l"/>
            <a:r>
              <a:rPr sz="1400" b="1" i="0">
                <a:solidFill>
                  <a:srgbClr val="FFFFFF"/>
                </a:solidFill>
                <a:latin typeface="Calibri"/>
              </a:rPr>
              <a:t>Train</a:t>
            </a:r>
          </a:p>
          <a:p>
            <a:pPr algn="l"/>
            <a:r>
              <a:rPr sz="2400" b="1" i="0">
                <a:solidFill>
                  <a:srgbClr val="FFFFFF"/>
                </a:solidFill>
                <a:latin typeface="Calibri"/>
              </a:rPr>
              <a:t>6,258</a:t>
            </a:r>
          </a:p>
          <a:p>
            <a:pPr algn="l"/>
            <a:r>
              <a:rPr sz="1400" b="0" i="0">
                <a:solidFill>
                  <a:srgbClr val="FFFFFF"/>
                </a:solidFill>
                <a:latin typeface="Calibri"/>
              </a:rPr>
              <a:t>760 scaffolds</a:t>
            </a:r>
          </a:p>
        </p:txBody>
      </p:sp>
      <p:sp>
        <p:nvSpPr>
          <p:cNvPr id="7" name="Rounded Rectangle 6"/>
          <p:cNvSpPr/>
          <p:nvPr/>
        </p:nvSpPr>
        <p:spPr>
          <a:xfrm>
            <a:off x="8183879" y="1463040"/>
            <a:ext cx="1691640" cy="1325880"/>
          </a:xfrm>
          <a:prstGeom prst="roundRect">
            <a:avLst>
              <a:gd name="adj" fmla="val 5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66759" y="1508760"/>
            <a:ext cx="1417320" cy="1234440"/>
          </a:xfrm>
          <a:prstGeom prst="rect">
            <a:avLst/>
          </a:prstGeom>
          <a:noFill/>
        </p:spPr>
        <p:txBody>
          <a:bodyPr wrap="square" anchor="ctr" lIns="45720" rIns="45720">
            <a:spAutoFit/>
          </a:bodyPr>
          <a:lstStyle/>
          <a:p>
            <a:pPr algn="l"/>
            <a:r>
              <a:rPr sz="1400" b="1" i="0">
                <a:solidFill>
                  <a:srgbClr val="FFFFFF"/>
                </a:solidFill>
                <a:latin typeface="Calibri"/>
              </a:rPr>
              <a:t>Validation</a:t>
            </a:r>
          </a:p>
          <a:p>
            <a:pPr algn="l"/>
            <a:r>
              <a:rPr sz="2400" b="1" i="0">
                <a:solidFill>
                  <a:srgbClr val="FFFFFF"/>
                </a:solidFill>
                <a:latin typeface="Calibri"/>
              </a:rPr>
              <a:t>782</a:t>
            </a:r>
          </a:p>
          <a:p>
            <a:pPr algn="l"/>
            <a:r>
              <a:rPr sz="1400" b="0" i="0">
                <a:solidFill>
                  <a:srgbClr val="FFFFFF"/>
                </a:solidFill>
                <a:latin typeface="Calibri"/>
              </a:rPr>
              <a:t>782 scaffolds</a:t>
            </a:r>
          </a:p>
        </p:txBody>
      </p:sp>
      <p:sp>
        <p:nvSpPr>
          <p:cNvPr id="9" name="Rounded Rectangle 8"/>
          <p:cNvSpPr/>
          <p:nvPr/>
        </p:nvSpPr>
        <p:spPr>
          <a:xfrm>
            <a:off x="9921240" y="1463040"/>
            <a:ext cx="1691640" cy="1325880"/>
          </a:xfrm>
          <a:prstGeom prst="roundRect">
            <a:avLst>
              <a:gd name="adj" fmla="val 5000"/>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04119" y="1508760"/>
            <a:ext cx="1417320" cy="1234440"/>
          </a:xfrm>
          <a:prstGeom prst="rect">
            <a:avLst/>
          </a:prstGeom>
          <a:noFill/>
        </p:spPr>
        <p:txBody>
          <a:bodyPr wrap="square" anchor="ctr" lIns="45720" rIns="45720">
            <a:spAutoFit/>
          </a:bodyPr>
          <a:lstStyle/>
          <a:p>
            <a:pPr algn="l"/>
            <a:r>
              <a:rPr sz="1400" b="1" i="0">
                <a:solidFill>
                  <a:srgbClr val="FFFFFF"/>
                </a:solidFill>
                <a:latin typeface="Calibri"/>
              </a:rPr>
              <a:t>Test</a:t>
            </a:r>
          </a:p>
          <a:p>
            <a:pPr algn="l"/>
            <a:r>
              <a:rPr sz="2400" b="1" i="0">
                <a:solidFill>
                  <a:srgbClr val="FFFFFF"/>
                </a:solidFill>
                <a:latin typeface="Calibri"/>
              </a:rPr>
              <a:t>783</a:t>
            </a:r>
          </a:p>
          <a:p>
            <a:pPr algn="l"/>
            <a:r>
              <a:rPr sz="1400" b="0" i="0">
                <a:solidFill>
                  <a:srgbClr val="FFFFFF"/>
                </a:solidFill>
                <a:latin typeface="Calibri"/>
              </a:rPr>
              <a:t>783 scaffolds</a:t>
            </a:r>
          </a:p>
        </p:txBody>
      </p:sp>
      <p:sp>
        <p:nvSpPr>
          <p:cNvPr id="11" name="TextBox 10"/>
          <p:cNvSpPr txBox="1"/>
          <p:nvPr/>
        </p:nvSpPr>
        <p:spPr>
          <a:xfrm>
            <a:off x="548640" y="2880360"/>
            <a:ext cx="11064240" cy="365760"/>
          </a:xfrm>
          <a:prstGeom prst="rect">
            <a:avLst/>
          </a:prstGeom>
          <a:noFill/>
        </p:spPr>
        <p:txBody>
          <a:bodyPr wrap="square" anchor="t" lIns="45720" rIns="45720">
            <a:spAutoFit/>
          </a:bodyPr>
          <a:lstStyle/>
          <a:p>
            <a:pPr algn="l"/>
            <a:r>
              <a:rPr sz="1300" b="0" i="0">
                <a:solidFill>
                  <a:srgbClr val="5C6773"/>
                </a:solidFill>
                <a:latin typeface="Calibri"/>
              </a:rPr>
              <a:t>Seed 42 · 80 / 10 / 10 target · scaffold groups assigned largest-first</a:t>
            </a:r>
          </a:p>
        </p:txBody>
      </p:sp>
      <p:sp>
        <p:nvSpPr>
          <p:cNvPr id="12" name="TextBox 11"/>
          <p:cNvSpPr txBox="1"/>
          <p:nvPr/>
        </p:nvSpPr>
        <p:spPr>
          <a:xfrm>
            <a:off x="548640" y="3657600"/>
            <a:ext cx="3108960" cy="1028700"/>
          </a:xfrm>
          <a:prstGeom prst="rect">
            <a:avLst/>
          </a:prstGeom>
          <a:noFill/>
        </p:spPr>
        <p:txBody>
          <a:bodyPr wrap="square" anchor="t" lIns="45720" rIns="45720">
            <a:spAutoFit/>
          </a:bodyPr>
          <a:lstStyle/>
          <a:p>
            <a:pPr algn="l"/>
            <a:r>
              <a:rPr sz="5400" b="1" i="0">
                <a:solidFill>
                  <a:srgbClr val="009E73"/>
                </a:solidFill>
                <a:latin typeface="Cambria"/>
              </a:rPr>
              <a:t>0</a:t>
            </a:r>
          </a:p>
        </p:txBody>
      </p:sp>
      <p:sp>
        <p:nvSpPr>
          <p:cNvPr id="13" name="TextBox 12"/>
          <p:cNvSpPr txBox="1"/>
          <p:nvPr/>
        </p:nvSpPr>
        <p:spPr>
          <a:xfrm>
            <a:off x="548640" y="4686300"/>
            <a:ext cx="3108960" cy="640080"/>
          </a:xfrm>
          <a:prstGeom prst="rect">
            <a:avLst/>
          </a:prstGeom>
          <a:noFill/>
        </p:spPr>
        <p:txBody>
          <a:bodyPr wrap="square" anchor="t" lIns="45720" rIns="45720">
            <a:spAutoFit/>
          </a:bodyPr>
          <a:lstStyle/>
          <a:p>
            <a:pPr algn="l"/>
            <a:r>
              <a:rPr sz="1400" b="0" i="0">
                <a:solidFill>
                  <a:srgbClr val="5C6773"/>
                </a:solidFill>
                <a:latin typeface="Calibri"/>
              </a:rPr>
              <a:t>scaffolds shared between
any two partitions</a:t>
            </a:r>
          </a:p>
        </p:txBody>
      </p:sp>
      <p:sp>
        <p:nvSpPr>
          <p:cNvPr id="14" name="TextBox 13"/>
          <p:cNvSpPr txBox="1"/>
          <p:nvPr/>
        </p:nvSpPr>
        <p:spPr>
          <a:xfrm>
            <a:off x="4023360" y="3703320"/>
            <a:ext cx="7589520" cy="2468880"/>
          </a:xfrm>
          <a:prstGeom prst="rect">
            <a:avLst/>
          </a:prstGeom>
          <a:noFill/>
        </p:spPr>
        <p:txBody>
          <a:bodyPr wrap="square" lIns="45720" rIns="45720">
            <a:spAutoFit/>
          </a:bodyPr>
          <a:lstStyle/>
          <a:p>
            <a:pPr marL="228600" indent="-228600">
              <a:spcAft>
                <a:spcPts val="1600"/>
              </a:spcAft>
              <a:buChar char="•"/>
            </a:pPr>
            <a:r>
              <a:rPr sz="1700" b="1">
                <a:solidFill>
                  <a:srgbClr val="222B36"/>
                </a:solidFill>
                <a:latin typeface="Calibri"/>
              </a:rPr>
              <a:t>Why: </a:t>
            </a:r>
            <a:r>
              <a:rPr sz="1700" b="0">
                <a:solidFill>
                  <a:srgbClr val="222B36"/>
                </a:solidFill>
                <a:latin typeface="Calibri"/>
              </a:rPr>
              <a:t>random splits put close analogues in train and test, inflating scores [5, 8]</a:t>
            </a:r>
          </a:p>
          <a:p>
            <a:pPr marL="228600" indent="-228600">
              <a:spcAft>
                <a:spcPts val="1600"/>
              </a:spcAft>
              <a:buChar char="•"/>
            </a:pPr>
            <a:r>
              <a:rPr sz="1700" b="1">
                <a:solidFill>
                  <a:srgbClr val="222B36"/>
                </a:solidFill>
                <a:latin typeface="Calibri"/>
              </a:rPr>
              <a:t>Bemis–Murcko scaffold </a:t>
            </a:r>
            <a:r>
              <a:rPr sz="1700" b="0">
                <a:solidFill>
                  <a:srgbClr val="222B36"/>
                </a:solidFill>
                <a:latin typeface="Calibri"/>
              </a:rPr>
              <a:t>= ring systems + linkers, side chains removed [15]</a:t>
            </a:r>
          </a:p>
          <a:p>
            <a:pPr marL="228600" indent="-228600">
              <a:spcAft>
                <a:spcPts val="1600"/>
              </a:spcAft>
              <a:buChar char="•"/>
            </a:pPr>
            <a:r>
              <a:rPr sz="1700" b="1">
                <a:solidFill>
                  <a:srgbClr val="222B36"/>
                </a:solidFill>
                <a:latin typeface="Calibri"/>
              </a:rPr>
              <a:t>Caveat: </a:t>
            </a:r>
            <a:r>
              <a:rPr sz="1700" b="0">
                <a:solidFill>
                  <a:srgbClr val="222B36"/>
                </a:solidFill>
                <a:latin typeface="Calibri"/>
              </a:rPr>
              <a:t>val/test hold only singleton scaffolds; 1,775 acyclic molecules all in train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Classical models and imbalance handling</a:t>
            </a:r>
          </a:p>
        </p:txBody>
      </p:sp>
      <p:sp>
        <p:nvSpPr>
          <p:cNvPr id="3" name="TextBox 2"/>
          <p:cNvSpPr txBox="1"/>
          <p:nvPr/>
        </p:nvSpPr>
        <p:spPr>
          <a:xfrm>
            <a:off x="548640" y="6355080"/>
            <a:ext cx="9601200" cy="320040"/>
          </a:xfrm>
          <a:prstGeom prst="rect">
            <a:avLst/>
          </a:prstGeom>
          <a:noFill/>
        </p:spPr>
        <p:txBody>
          <a:bodyPr wrap="square" anchor="t" lIns="45720" rIns="45720">
            <a:spAutoFit/>
          </a:bodyPr>
          <a:lstStyle/>
          <a:p>
            <a:pPr algn="l"/>
            <a:r>
              <a:rPr sz="1000" b="0" i="0">
                <a:solidFill>
                  <a:srgbClr val="5C6773"/>
                </a:solidFill>
                <a:latin typeface="Calibri"/>
              </a:rPr>
              <a:t>[16] Breiman 2001 · [17] Chen &amp; Guestrin 2016 · [18] Pedregosa et al. 2011</a:t>
            </a:r>
          </a:p>
        </p:txBody>
      </p:sp>
      <p:sp>
        <p:nvSpPr>
          <p:cNvPr id="4" name="TextBox 3"/>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9</a:t>
            </a:r>
          </a:p>
        </p:txBody>
      </p:sp>
      <p:graphicFrame>
        <p:nvGraphicFramePr>
          <p:cNvPr id="5" name="Table 4"/>
          <p:cNvGraphicFramePr>
            <a:graphicFrameLocks noGrp="1"/>
          </p:cNvGraphicFramePr>
          <p:nvPr/>
        </p:nvGraphicFramePr>
        <p:xfrm>
          <a:off x="548640" y="1508760"/>
          <a:ext cx="11064240" cy="2267712"/>
        </p:xfrm>
        <a:graphic>
          <a:graphicData uri="http://schemas.openxmlformats.org/drawingml/2006/table">
            <a:tbl>
              <a:tblPr firstRow="1" bandRow="1">
                <a:tableStyleId>{5C22544A-7EE6-4342-B048-85BDC9FD1C3A}</a:tableStyleId>
              </a:tblPr>
              <a:tblGrid>
                <a:gridCol w="2743200"/>
                <a:gridCol w="5029200"/>
                <a:gridCol w="3291840"/>
              </a:tblGrid>
              <a:tr h="566928">
                <a:tc>
                  <a:txBody>
                    <a:bodyPr wrap="square"/>
                    <a:lstStyle/>
                    <a:p>
                      <a:pPr algn="l"/>
                      <a:r>
                        <a:rPr sz="1600" b="1">
                          <a:solidFill>
                            <a:srgbClr val="FFFFFF"/>
                          </a:solidFill>
                          <a:latin typeface="Calibri"/>
                        </a:rPr>
                        <a:t>Model</a:t>
                      </a:r>
                    </a:p>
                  </a:txBody>
                  <a:tcPr marL="73152" marR="73152" marT="27432" marB="27432" anchor="ctr">
                    <a:solidFill>
                      <a:srgbClr val="1B2A41"/>
                    </a:solidFill>
                  </a:tcPr>
                </a:tc>
                <a:tc>
                  <a:txBody>
                    <a:bodyPr wrap="square"/>
                    <a:lstStyle/>
                    <a:p>
                      <a:pPr algn="l"/>
                      <a:r>
                        <a:rPr sz="1600" b="1">
                          <a:solidFill>
                            <a:srgbClr val="FFFFFF"/>
                          </a:solidFill>
                          <a:latin typeface="Calibri"/>
                        </a:rPr>
                        <a:t>Configuration (fixed, not tuned)</a:t>
                      </a:r>
                    </a:p>
                  </a:txBody>
                  <a:tcPr marL="73152" marR="73152" marT="27432" marB="27432" anchor="ctr">
                    <a:solidFill>
                      <a:srgbClr val="1B2A41"/>
                    </a:solidFill>
                  </a:tcPr>
                </a:tc>
                <a:tc>
                  <a:txBody>
                    <a:bodyPr wrap="square"/>
                    <a:lstStyle/>
                    <a:p>
                      <a:pPr algn="l"/>
                      <a:r>
                        <a:rPr sz="1600" b="1">
                          <a:solidFill>
                            <a:srgbClr val="FFFFFF"/>
                          </a:solidFill>
                          <a:latin typeface="Calibri"/>
                        </a:rPr>
                        <a:t>Imbalance handling</a:t>
                      </a:r>
                    </a:p>
                  </a:txBody>
                  <a:tcPr marL="73152" marR="73152" marT="27432" marB="27432" anchor="ctr">
                    <a:solidFill>
                      <a:srgbClr val="1B2A41"/>
                    </a:solidFill>
                  </a:tcPr>
                </a:tc>
              </a:tr>
              <a:tr h="566928">
                <a:tc>
                  <a:txBody>
                    <a:bodyPr wrap="square"/>
                    <a:lstStyle/>
                    <a:p>
                      <a:pPr algn="l"/>
                      <a:r>
                        <a:rPr sz="1600" b="0">
                          <a:solidFill>
                            <a:srgbClr val="222B36"/>
                          </a:solidFill>
                          <a:latin typeface="Calibri"/>
                        </a:rPr>
                        <a:t>Logistic Regression</a:t>
                      </a:r>
                    </a:p>
                  </a:txBody>
                  <a:tcPr marL="73152" marR="73152" marT="27432" marB="27432" anchor="ctr">
                    <a:solidFill>
                      <a:srgbClr val="FFFFFF"/>
                    </a:solidFill>
                  </a:tcPr>
                </a:tc>
                <a:tc>
                  <a:txBody>
                    <a:bodyPr wrap="square"/>
                    <a:lstStyle/>
                    <a:p>
                      <a:pPr algn="l"/>
                      <a:r>
                        <a:rPr sz="1600" b="0">
                          <a:solidFill>
                            <a:srgbClr val="222B36"/>
                          </a:solidFill>
                          <a:latin typeface="Calibri"/>
                        </a:rPr>
                        <a:t>L2, C = 1.0, lbfgs, max_iter 1000</a:t>
                      </a:r>
                    </a:p>
                  </a:txBody>
                  <a:tcPr marL="73152" marR="73152" marT="27432" marB="27432" anchor="ctr">
                    <a:solidFill>
                      <a:srgbClr val="FFFFFF"/>
                    </a:solidFill>
                  </a:tcPr>
                </a:tc>
                <a:tc>
                  <a:txBody>
                    <a:bodyPr wrap="square"/>
                    <a:lstStyle/>
                    <a:p>
                      <a:pPr algn="l"/>
                      <a:r>
                        <a:rPr sz="1600" b="0">
                          <a:solidFill>
                            <a:srgbClr val="222B36"/>
                          </a:solidFill>
                          <a:latin typeface="Calibri"/>
                        </a:rPr>
                        <a:t>class_weight = balanced</a:t>
                      </a:r>
                    </a:p>
                  </a:txBody>
                  <a:tcPr marL="73152" marR="73152" marT="27432" marB="27432" anchor="ctr">
                    <a:solidFill>
                      <a:srgbClr val="FFFFFF"/>
                    </a:solidFill>
                  </a:tcPr>
                </a:tc>
              </a:tr>
              <a:tr h="566928">
                <a:tc>
                  <a:txBody>
                    <a:bodyPr wrap="square"/>
                    <a:lstStyle/>
                    <a:p>
                      <a:pPr algn="l"/>
                      <a:r>
                        <a:rPr sz="1600" b="0">
                          <a:solidFill>
                            <a:srgbClr val="222B36"/>
                          </a:solidFill>
                          <a:latin typeface="Calibri"/>
                        </a:rPr>
                        <a:t>Random Forest [16]</a:t>
                      </a:r>
                    </a:p>
                  </a:txBody>
                  <a:tcPr marL="73152" marR="73152" marT="27432" marB="27432" anchor="ctr">
                    <a:solidFill>
                      <a:srgbClr val="F1F4F8"/>
                    </a:solidFill>
                  </a:tcPr>
                </a:tc>
                <a:tc>
                  <a:txBody>
                    <a:bodyPr wrap="square"/>
                    <a:lstStyle/>
                    <a:p>
                      <a:pPr algn="l"/>
                      <a:r>
                        <a:rPr sz="1600" b="0">
                          <a:solidFill>
                            <a:srgbClr val="222B36"/>
                          </a:solidFill>
                          <a:latin typeface="Calibri"/>
                        </a:rPr>
                        <a:t>100 trees, max_depth 12, min_samples_split 5</a:t>
                      </a:r>
                    </a:p>
                  </a:txBody>
                  <a:tcPr marL="73152" marR="73152" marT="27432" marB="27432" anchor="ctr">
                    <a:solidFill>
                      <a:srgbClr val="F1F4F8"/>
                    </a:solidFill>
                  </a:tcPr>
                </a:tc>
                <a:tc>
                  <a:txBody>
                    <a:bodyPr wrap="square"/>
                    <a:lstStyle/>
                    <a:p>
                      <a:pPr algn="l"/>
                      <a:r>
                        <a:rPr sz="1600" b="0">
                          <a:solidFill>
                            <a:srgbClr val="222B36"/>
                          </a:solidFill>
                          <a:latin typeface="Calibri"/>
                        </a:rPr>
                        <a:t>class_weight = balanced</a:t>
                      </a:r>
                    </a:p>
                  </a:txBody>
                  <a:tcPr marL="73152" marR="73152" marT="27432" marB="27432" anchor="ctr">
                    <a:solidFill>
                      <a:srgbClr val="F1F4F8"/>
                    </a:solidFill>
                  </a:tcPr>
                </a:tc>
              </a:tr>
              <a:tr h="566928">
                <a:tc>
                  <a:txBody>
                    <a:bodyPr wrap="square"/>
                    <a:lstStyle/>
                    <a:p>
                      <a:pPr algn="l"/>
                      <a:r>
                        <a:rPr sz="1600" b="0">
                          <a:solidFill>
                            <a:srgbClr val="222B36"/>
                          </a:solidFill>
                          <a:latin typeface="Calibri"/>
                        </a:rPr>
                        <a:t>XGBoost [17]</a:t>
                      </a:r>
                    </a:p>
                  </a:txBody>
                  <a:tcPr marL="73152" marR="73152" marT="27432" marB="27432" anchor="ctr">
                    <a:solidFill>
                      <a:srgbClr val="FFFFFF"/>
                    </a:solidFill>
                  </a:tcPr>
                </a:tc>
                <a:tc>
                  <a:txBody>
                    <a:bodyPr wrap="square"/>
                    <a:lstStyle/>
                    <a:p>
                      <a:pPr algn="l"/>
                      <a:r>
                        <a:rPr sz="1600" b="0">
                          <a:solidFill>
                            <a:srgbClr val="222B36"/>
                          </a:solidFill>
                          <a:latin typeface="Calibri"/>
                        </a:rPr>
                        <a:t>100 rounds, max_depth 5, learning rate 0.1</a:t>
                      </a:r>
                    </a:p>
                  </a:txBody>
                  <a:tcPr marL="73152" marR="73152" marT="27432" marB="27432" anchor="ctr">
                    <a:solidFill>
                      <a:srgbClr val="FFFFFF"/>
                    </a:solidFill>
                  </a:tcPr>
                </a:tc>
                <a:tc>
                  <a:txBody>
                    <a:bodyPr wrap="square"/>
                    <a:lstStyle/>
                    <a:p>
                      <a:pPr algn="l"/>
                      <a:r>
                        <a:rPr sz="1600" b="0">
                          <a:solidFill>
                            <a:srgbClr val="222B36"/>
                          </a:solidFill>
                          <a:latin typeface="Calibri"/>
                        </a:rPr>
                        <a:t>scale_pos_weight = N⁻/N⁺ (train)</a:t>
                      </a:r>
                    </a:p>
                  </a:txBody>
                  <a:tcPr marL="73152" marR="73152" marT="27432" marB="27432" anchor="ctr">
                    <a:solidFill>
                      <a:srgbClr val="FFFFFF"/>
                    </a:solidFill>
                  </a:tcPr>
                </a:tc>
              </a:tr>
            </a:tbl>
          </a:graphicData>
        </a:graphic>
      </p:graphicFrame>
      <p:sp>
        <p:nvSpPr>
          <p:cNvPr id="6" name="Rounded Rectangle 5"/>
          <p:cNvSpPr/>
          <p:nvPr/>
        </p:nvSpPr>
        <p:spPr>
          <a:xfrm>
            <a:off x="548640" y="4251960"/>
            <a:ext cx="5440680" cy="16002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4389120"/>
            <a:ext cx="4937760" cy="457200"/>
          </a:xfrm>
          <a:prstGeom prst="rect">
            <a:avLst/>
          </a:prstGeom>
          <a:noFill/>
        </p:spPr>
        <p:txBody>
          <a:bodyPr wrap="square" anchor="t" lIns="45720" rIns="45720">
            <a:spAutoFit/>
          </a:bodyPr>
          <a:lstStyle/>
          <a:p>
            <a:pPr algn="l"/>
            <a:r>
              <a:rPr sz="1900" b="1" i="0">
                <a:solidFill>
                  <a:srgbClr val="1B2A41"/>
                </a:solidFill>
                <a:latin typeface="Cambria"/>
              </a:rPr>
              <a:t>36 classifiers per model family</a:t>
            </a:r>
          </a:p>
        </p:txBody>
      </p:sp>
      <p:sp>
        <p:nvSpPr>
          <p:cNvPr id="8" name="TextBox 7"/>
          <p:cNvSpPr txBox="1"/>
          <p:nvPr/>
        </p:nvSpPr>
        <p:spPr>
          <a:xfrm>
            <a:off x="822959" y="4892040"/>
            <a:ext cx="4937760" cy="822960"/>
          </a:xfrm>
          <a:prstGeom prst="rect">
            <a:avLst/>
          </a:prstGeom>
          <a:noFill/>
        </p:spPr>
        <p:txBody>
          <a:bodyPr wrap="square" anchor="t" lIns="45720" rIns="45720">
            <a:spAutoFit/>
          </a:bodyPr>
          <a:lstStyle/>
          <a:p>
            <a:pPr algn="l"/>
            <a:r>
              <a:rPr sz="1600" b="0" i="0">
                <a:solidFill>
                  <a:srgbClr val="222B36"/>
                </a:solidFill>
                <a:latin typeface="Calibri"/>
              </a:rPr>
              <a:t>3 representations × 12 endpoints, each trained independently</a:t>
            </a:r>
          </a:p>
        </p:txBody>
      </p:sp>
      <p:sp>
        <p:nvSpPr>
          <p:cNvPr id="9" name="Rounded Rectangle 8"/>
          <p:cNvSpPr/>
          <p:nvPr/>
        </p:nvSpPr>
        <p:spPr>
          <a:xfrm>
            <a:off x="6172200" y="4251960"/>
            <a:ext cx="5440680" cy="16002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4389120"/>
            <a:ext cx="4937760" cy="457200"/>
          </a:xfrm>
          <a:prstGeom prst="rect">
            <a:avLst/>
          </a:prstGeom>
          <a:noFill/>
        </p:spPr>
        <p:txBody>
          <a:bodyPr wrap="square" anchor="t" lIns="45720" rIns="45720">
            <a:spAutoFit/>
          </a:bodyPr>
          <a:lstStyle/>
          <a:p>
            <a:pPr algn="l"/>
            <a:r>
              <a:rPr sz="1900" b="1" i="0">
                <a:solidFill>
                  <a:srgbClr val="1B2A41"/>
                </a:solidFill>
                <a:latin typeface="Cambria"/>
              </a:rPr>
              <a:t>random_state = 42 everywhere</a:t>
            </a:r>
          </a:p>
        </p:txBody>
      </p:sp>
      <p:sp>
        <p:nvSpPr>
          <p:cNvPr id="11" name="TextBox 10"/>
          <p:cNvSpPr txBox="1"/>
          <p:nvPr/>
        </p:nvSpPr>
        <p:spPr>
          <a:xfrm>
            <a:off x="6446520" y="4892040"/>
            <a:ext cx="4937760" cy="822960"/>
          </a:xfrm>
          <a:prstGeom prst="rect">
            <a:avLst/>
          </a:prstGeom>
          <a:noFill/>
        </p:spPr>
        <p:txBody>
          <a:bodyPr wrap="square" anchor="t" lIns="45720" rIns="45720">
            <a:spAutoFit/>
          </a:bodyPr>
          <a:lstStyle/>
          <a:p>
            <a:pPr algn="l"/>
            <a:r>
              <a:rPr sz="1600" b="0" i="0">
                <a:solidFill>
                  <a:srgbClr val="222B36"/>
                </a:solidFill>
                <a:latin typeface="Calibri"/>
              </a:rPr>
              <a:t>scikit-learn [18] and XGBoost implementations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Evaluation protocol</a:t>
            </a:r>
          </a:p>
        </p:txBody>
      </p:sp>
      <p:sp>
        <p:nvSpPr>
          <p:cNvPr id="3" name="TextBox 2"/>
          <p:cNvSpPr txBox="1"/>
          <p:nvPr/>
        </p:nvSpPr>
        <p:spPr>
          <a:xfrm>
            <a:off x="548640" y="6355080"/>
            <a:ext cx="9601200" cy="320040"/>
          </a:xfrm>
          <a:prstGeom prst="rect">
            <a:avLst/>
          </a:prstGeom>
          <a:noFill/>
        </p:spPr>
        <p:txBody>
          <a:bodyPr wrap="square" anchor="t" lIns="45720" rIns="45720">
            <a:spAutoFit/>
          </a:bodyPr>
          <a:lstStyle/>
          <a:p>
            <a:pPr algn="l"/>
            <a:r>
              <a:rPr sz="1000" b="0" i="0">
                <a:solidFill>
                  <a:srgbClr val="5C6773"/>
                </a:solidFill>
                <a:latin typeface="Calibri"/>
              </a:rPr>
              <a:t>[9] Saito &amp; Rehmsmeier 2015 · [19] Davis &amp; Goadrich 2006</a:t>
            </a:r>
          </a:p>
        </p:txBody>
      </p:sp>
      <p:sp>
        <p:nvSpPr>
          <p:cNvPr id="4" name="TextBox 3"/>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10</a:t>
            </a:r>
          </a:p>
        </p:txBody>
      </p:sp>
      <p:sp>
        <p:nvSpPr>
          <p:cNvPr id="5" name="Oval 4"/>
          <p:cNvSpPr/>
          <p:nvPr/>
        </p:nvSpPr>
        <p:spPr>
          <a:xfrm>
            <a:off x="548640" y="1554480"/>
            <a:ext cx="457200" cy="457200"/>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1</a:t>
            </a:r>
          </a:p>
        </p:txBody>
      </p:sp>
      <p:sp>
        <p:nvSpPr>
          <p:cNvPr id="6" name="TextBox 5"/>
          <p:cNvSpPr txBox="1"/>
          <p:nvPr/>
        </p:nvSpPr>
        <p:spPr>
          <a:xfrm>
            <a:off x="1188720" y="1463040"/>
            <a:ext cx="3108960" cy="640080"/>
          </a:xfrm>
          <a:prstGeom prst="rect">
            <a:avLst/>
          </a:prstGeom>
          <a:noFill/>
        </p:spPr>
        <p:txBody>
          <a:bodyPr wrap="square" anchor="ctr" lIns="45720" rIns="45720">
            <a:spAutoFit/>
          </a:bodyPr>
          <a:lstStyle/>
          <a:p>
            <a:pPr algn="l"/>
            <a:r>
              <a:rPr sz="1800" b="1" i="0">
                <a:solidFill>
                  <a:srgbClr val="1B2A41"/>
                </a:solidFill>
                <a:latin typeface="Calibri"/>
              </a:rPr>
              <a:t>Missing labels</a:t>
            </a:r>
          </a:p>
        </p:txBody>
      </p:sp>
      <p:sp>
        <p:nvSpPr>
          <p:cNvPr id="7" name="TextBox 6"/>
          <p:cNvSpPr txBox="1"/>
          <p:nvPr/>
        </p:nvSpPr>
        <p:spPr>
          <a:xfrm>
            <a:off x="3931920" y="1463040"/>
            <a:ext cx="7680960" cy="640080"/>
          </a:xfrm>
          <a:prstGeom prst="rect">
            <a:avLst/>
          </a:prstGeom>
          <a:noFill/>
        </p:spPr>
        <p:txBody>
          <a:bodyPr wrap="square" anchor="ctr" lIns="45720" rIns="45720">
            <a:spAutoFit/>
          </a:bodyPr>
          <a:lstStyle/>
          <a:p>
            <a:pPr algn="l"/>
            <a:r>
              <a:rPr sz="1600" b="0" i="0">
                <a:solidFill>
                  <a:srgbClr val="222B36"/>
                </a:solidFill>
                <a:latin typeface="Calibri"/>
              </a:rPr>
              <a:t>Masked per endpoint in training and in every metric</a:t>
            </a:r>
          </a:p>
        </p:txBody>
      </p:sp>
      <p:sp>
        <p:nvSpPr>
          <p:cNvPr id="8" name="Oval 7"/>
          <p:cNvSpPr/>
          <p:nvPr/>
        </p:nvSpPr>
        <p:spPr>
          <a:xfrm>
            <a:off x="548640" y="2468880"/>
            <a:ext cx="457200" cy="457200"/>
          </a:xfrm>
          <a:prstGeom prst="ellipse">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2</a:t>
            </a:r>
          </a:p>
        </p:txBody>
      </p:sp>
      <p:sp>
        <p:nvSpPr>
          <p:cNvPr id="9" name="TextBox 8"/>
          <p:cNvSpPr txBox="1"/>
          <p:nvPr/>
        </p:nvSpPr>
        <p:spPr>
          <a:xfrm>
            <a:off x="1188720" y="2377440"/>
            <a:ext cx="3108960" cy="640080"/>
          </a:xfrm>
          <a:prstGeom prst="rect">
            <a:avLst/>
          </a:prstGeom>
          <a:noFill/>
        </p:spPr>
        <p:txBody>
          <a:bodyPr wrap="square" anchor="ctr" lIns="45720" rIns="45720">
            <a:spAutoFit/>
          </a:bodyPr>
          <a:lstStyle/>
          <a:p>
            <a:pPr algn="l"/>
            <a:r>
              <a:rPr sz="1800" b="1" i="0">
                <a:solidFill>
                  <a:srgbClr val="1B2A41"/>
                </a:solidFill>
                <a:latin typeface="Calibri"/>
              </a:rPr>
              <a:t>ROC-AUC</a:t>
            </a:r>
          </a:p>
        </p:txBody>
      </p:sp>
      <p:sp>
        <p:nvSpPr>
          <p:cNvPr id="10" name="TextBox 9"/>
          <p:cNvSpPr txBox="1"/>
          <p:nvPr/>
        </p:nvSpPr>
        <p:spPr>
          <a:xfrm>
            <a:off x="3931920" y="2377440"/>
            <a:ext cx="7680960" cy="640080"/>
          </a:xfrm>
          <a:prstGeom prst="rect">
            <a:avLst/>
          </a:prstGeom>
          <a:noFill/>
        </p:spPr>
        <p:txBody>
          <a:bodyPr wrap="square" anchor="ctr" lIns="45720" rIns="45720">
            <a:spAutoFit/>
          </a:bodyPr>
          <a:lstStyle/>
          <a:p>
            <a:pPr algn="l"/>
            <a:r>
              <a:rPr sz="1600" b="0" i="0">
                <a:solidFill>
                  <a:srgbClr val="222B36"/>
                </a:solidFill>
                <a:latin typeface="Calibri"/>
              </a:rPr>
              <a:t>P(active ranked above inactive); prevalence-invariant</a:t>
            </a:r>
          </a:p>
        </p:txBody>
      </p:sp>
      <p:sp>
        <p:nvSpPr>
          <p:cNvPr id="11" name="Oval 10"/>
          <p:cNvSpPr/>
          <p:nvPr/>
        </p:nvSpPr>
        <p:spPr>
          <a:xfrm>
            <a:off x="548640" y="3383280"/>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3</a:t>
            </a:r>
          </a:p>
        </p:txBody>
      </p:sp>
      <p:sp>
        <p:nvSpPr>
          <p:cNvPr id="12" name="TextBox 11"/>
          <p:cNvSpPr txBox="1"/>
          <p:nvPr/>
        </p:nvSpPr>
        <p:spPr>
          <a:xfrm>
            <a:off x="1188720" y="3291840"/>
            <a:ext cx="3108960" cy="640080"/>
          </a:xfrm>
          <a:prstGeom prst="rect">
            <a:avLst/>
          </a:prstGeom>
          <a:noFill/>
        </p:spPr>
        <p:txBody>
          <a:bodyPr wrap="square" anchor="ctr" lIns="45720" rIns="45720">
            <a:spAutoFit/>
          </a:bodyPr>
          <a:lstStyle/>
          <a:p>
            <a:pPr algn="l"/>
            <a:r>
              <a:rPr sz="1800" b="1" i="0">
                <a:solidFill>
                  <a:srgbClr val="1B2A41"/>
                </a:solidFill>
                <a:latin typeface="Calibri"/>
              </a:rPr>
              <a:t>Average precision (AP)</a:t>
            </a:r>
          </a:p>
        </p:txBody>
      </p:sp>
      <p:sp>
        <p:nvSpPr>
          <p:cNvPr id="13" name="TextBox 12"/>
          <p:cNvSpPr txBox="1"/>
          <p:nvPr/>
        </p:nvSpPr>
        <p:spPr>
          <a:xfrm>
            <a:off x="3931920" y="3291840"/>
            <a:ext cx="7680960" cy="640080"/>
          </a:xfrm>
          <a:prstGeom prst="rect">
            <a:avLst/>
          </a:prstGeom>
          <a:noFill/>
        </p:spPr>
        <p:txBody>
          <a:bodyPr wrap="square" anchor="ctr" lIns="45720" rIns="45720">
            <a:spAutoFit/>
          </a:bodyPr>
          <a:lstStyle/>
          <a:p>
            <a:pPr algn="l"/>
            <a:r>
              <a:rPr sz="1600" b="0" i="0">
                <a:solidFill>
                  <a:srgbClr val="222B36"/>
                </a:solidFill>
                <a:latin typeface="Calibri"/>
              </a:rPr>
              <a:t>Precision averaged over recall steps; random baseline = prevalence [9, 19]</a:t>
            </a:r>
          </a:p>
        </p:txBody>
      </p:sp>
      <p:sp>
        <p:nvSpPr>
          <p:cNvPr id="14" name="Oval 13"/>
          <p:cNvSpPr/>
          <p:nvPr/>
        </p:nvSpPr>
        <p:spPr>
          <a:xfrm>
            <a:off x="548640" y="4297679"/>
            <a:ext cx="457200" cy="457200"/>
          </a:xfrm>
          <a:prstGeom prst="ellipse">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4</a:t>
            </a:r>
          </a:p>
        </p:txBody>
      </p:sp>
      <p:sp>
        <p:nvSpPr>
          <p:cNvPr id="15" name="TextBox 14"/>
          <p:cNvSpPr txBox="1"/>
          <p:nvPr/>
        </p:nvSpPr>
        <p:spPr>
          <a:xfrm>
            <a:off x="1188720" y="4206240"/>
            <a:ext cx="3108960" cy="640080"/>
          </a:xfrm>
          <a:prstGeom prst="rect">
            <a:avLst/>
          </a:prstGeom>
          <a:noFill/>
        </p:spPr>
        <p:txBody>
          <a:bodyPr wrap="square" anchor="ctr" lIns="45720" rIns="45720">
            <a:spAutoFit/>
          </a:bodyPr>
          <a:lstStyle/>
          <a:p>
            <a:pPr algn="l"/>
            <a:r>
              <a:rPr sz="1800" b="1" i="0">
                <a:solidFill>
                  <a:srgbClr val="1B2A41"/>
                </a:solidFill>
                <a:latin typeface="Calibri"/>
              </a:rPr>
              <a:t>Threshold τ*</a:t>
            </a:r>
          </a:p>
        </p:txBody>
      </p:sp>
      <p:sp>
        <p:nvSpPr>
          <p:cNvPr id="16" name="TextBox 15"/>
          <p:cNvSpPr txBox="1"/>
          <p:nvPr/>
        </p:nvSpPr>
        <p:spPr>
          <a:xfrm>
            <a:off x="3931920" y="4206240"/>
            <a:ext cx="7680960" cy="640080"/>
          </a:xfrm>
          <a:prstGeom prst="rect">
            <a:avLst/>
          </a:prstGeom>
          <a:noFill/>
        </p:spPr>
        <p:txBody>
          <a:bodyPr wrap="square" anchor="ctr" lIns="45720" rIns="45720">
            <a:spAutoFit/>
          </a:bodyPr>
          <a:lstStyle/>
          <a:p>
            <a:pPr algn="l"/>
            <a:r>
              <a:rPr sz="1600" b="0" i="0">
                <a:solidFill>
                  <a:srgbClr val="222B36"/>
                </a:solidFill>
                <a:latin typeface="Calibri"/>
              </a:rPr>
              <a:t>argmax F1 on validation, grid 0.05–0.95, frozen for test</a:t>
            </a:r>
          </a:p>
        </p:txBody>
      </p:sp>
      <p:sp>
        <p:nvSpPr>
          <p:cNvPr id="17" name="Rounded Rectangle 16"/>
          <p:cNvSpPr/>
          <p:nvPr/>
        </p:nvSpPr>
        <p:spPr>
          <a:xfrm>
            <a:off x="548640" y="5212080"/>
            <a:ext cx="11064240" cy="960120"/>
          </a:xfrm>
          <a:prstGeom prst="roundRect">
            <a:avLst>
              <a:gd name="adj" fmla="val 8000"/>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257800"/>
            <a:ext cx="10607040" cy="868680"/>
          </a:xfrm>
          <a:prstGeom prst="rect">
            <a:avLst/>
          </a:prstGeom>
          <a:noFill/>
        </p:spPr>
        <p:txBody>
          <a:bodyPr wrap="square" anchor="ctr" lIns="45720" rIns="45720">
            <a:spAutoFit/>
          </a:bodyPr>
          <a:lstStyle/>
          <a:p>
            <a:pPr algn="l"/>
            <a:r>
              <a:rPr sz="1600" b="1" i="0">
                <a:solidFill>
                  <a:srgbClr val="8FD3BE"/>
                </a:solidFill>
                <a:latin typeface="Calibri"/>
              </a:rPr>
              <a:t>Reading “± SEM”:  </a:t>
            </a:r>
            <a:r>
              <a:rPr sz="1600" b="0" i="0">
                <a:solidFill>
                  <a:srgbClr val="FFFFFF"/>
                </a:solidFill>
                <a:latin typeface="Calibri"/>
              </a:rPr>
              <a:t>SD/√12 across the 12 endpoints of a single seed-42 run. It is assay-to-assay spread, not run-to-run uncertainty, and not a significance test.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Main results: combined features lead for tree models</a:t>
            </a:r>
          </a:p>
        </p:txBody>
      </p:sp>
      <p:sp>
        <p:nvSpPr>
          <p:cNvPr id="3" name="TextBox 2"/>
          <p:cNvSpPr txBox="1"/>
          <p:nvPr/>
        </p:nvSpPr>
        <p:spPr>
          <a:xfrm>
            <a:off x="548640" y="6355080"/>
            <a:ext cx="9601200" cy="320040"/>
          </a:xfrm>
          <a:prstGeom prst="rect">
            <a:avLst/>
          </a:prstGeom>
          <a:noFill/>
        </p:spPr>
        <p:txBody>
          <a:bodyPr wrap="square" anchor="t" lIns="45720" rIns="45720">
            <a:spAutoFit/>
          </a:bodyPr>
          <a:lstStyle/>
          <a:p>
            <a:pPr algn="l"/>
            <a:r>
              <a:rPr sz="1000" b="0" i="0">
                <a:solidFill>
                  <a:srgbClr val="5C6773"/>
                </a:solidFill>
                <a:latin typeface="Calibri"/>
              </a:rPr>
              <a:t>Test partition (783 molecules) · results/metrics/model_comparison_table.csv</a:t>
            </a:r>
          </a:p>
        </p:txBody>
      </p:sp>
      <p:sp>
        <p:nvSpPr>
          <p:cNvPr id="4" name="TextBox 3"/>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11</a:t>
            </a:r>
          </a:p>
        </p:txBody>
      </p:sp>
      <p:graphicFrame>
        <p:nvGraphicFramePr>
          <p:cNvPr id="5" name="Chart 4"/>
          <p:cNvGraphicFramePr>
            <a:graphicFrameLocks noGrp="1"/>
          </p:cNvGraphicFramePr>
          <p:nvPr/>
        </p:nvGraphicFramePr>
        <p:xfrm>
          <a:off x="548640" y="1325880"/>
          <a:ext cx="5440680" cy="4892040"/>
        </p:xfrm>
        <a:graphic>
          <a:graphicData uri="http://schemas.openxmlformats.org/drawingml/2006/chart">
            <c:chart xmlns:c="http://schemas.openxmlformats.org/drawingml/2006/chart" r:id="rId3"/>
          </a:graphicData>
        </a:graphic>
      </p:graphicFrame>
      <p:graphicFrame>
        <p:nvGraphicFramePr>
          <p:cNvPr id="6" name="Chart 5"/>
          <p:cNvGraphicFramePr>
            <a:graphicFrameLocks noGrp="1"/>
          </p:cNvGraphicFramePr>
          <p:nvPr/>
        </p:nvGraphicFramePr>
        <p:xfrm>
          <a:off x="6172200" y="1325880"/>
          <a:ext cx="5440680" cy="4892040"/>
        </p:xfrm>
        <a:graphic>
          <a:graphicData uri="http://schemas.openxmlformats.org/drawingml/2006/chart">
            <c:chart xmlns:c="http://schemas.openxmlformats.org/drawingml/2006/chart" r:id="rId4"/>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All nine configurations</a:t>
            </a:r>
          </a:p>
        </p:txBody>
      </p:sp>
      <p:sp>
        <p:nvSpPr>
          <p:cNvPr id="3" name="TextBox 2"/>
          <p:cNvSpPr txBox="1"/>
          <p:nvPr/>
        </p:nvSpPr>
        <p:spPr>
          <a:xfrm>
            <a:off x="548640" y="6355080"/>
            <a:ext cx="9601200" cy="320040"/>
          </a:xfrm>
          <a:prstGeom prst="rect">
            <a:avLst/>
          </a:prstGeom>
          <a:noFill/>
        </p:spPr>
        <p:txBody>
          <a:bodyPr wrap="square" anchor="t" lIns="45720" rIns="45720">
            <a:spAutoFit/>
          </a:bodyPr>
          <a:lstStyle/>
          <a:p>
            <a:pPr algn="l"/>
            <a:r>
              <a:rPr sz="1000" b="0" i="0">
                <a:solidFill>
                  <a:srgbClr val="5C6773"/>
                </a:solidFill>
                <a:latin typeface="Calibri"/>
              </a:rPr>
              <a:t>± = SEM across 12 endpoints, single run (seed 42) · F1 / BA at validation-selected thresholds</a:t>
            </a:r>
          </a:p>
        </p:txBody>
      </p:sp>
      <p:sp>
        <p:nvSpPr>
          <p:cNvPr id="4" name="TextBox 3"/>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12</a:t>
            </a:r>
          </a:p>
        </p:txBody>
      </p:sp>
      <p:graphicFrame>
        <p:nvGraphicFramePr>
          <p:cNvPr id="5" name="Table 4"/>
          <p:cNvGraphicFramePr>
            <a:graphicFrameLocks noGrp="1"/>
          </p:cNvGraphicFramePr>
          <p:nvPr/>
        </p:nvGraphicFramePr>
        <p:xfrm>
          <a:off x="548640" y="1417320"/>
          <a:ext cx="11064240" cy="4572000"/>
        </p:xfrm>
        <a:graphic>
          <a:graphicData uri="http://schemas.openxmlformats.org/drawingml/2006/table">
            <a:tbl>
              <a:tblPr firstRow="1" bandRow="1">
                <a:tableStyleId>{5C22544A-7EE6-4342-B048-85BDC9FD1C3A}</a:tableStyleId>
              </a:tblPr>
              <a:tblGrid>
                <a:gridCol w="1463040"/>
                <a:gridCol w="2377440"/>
                <a:gridCol w="2194560"/>
                <a:gridCol w="2103120"/>
                <a:gridCol w="1371600"/>
                <a:gridCol w="1554480"/>
              </a:tblGrid>
              <a:tr h="457200">
                <a:tc>
                  <a:txBody>
                    <a:bodyPr wrap="square"/>
                    <a:lstStyle/>
                    <a:p>
                      <a:pPr algn="l"/>
                      <a:r>
                        <a:rPr sz="1500" b="1">
                          <a:solidFill>
                            <a:srgbClr val="FFFFFF"/>
                          </a:solidFill>
                          <a:latin typeface="Calibri"/>
                        </a:rPr>
                        <a:t>Model</a:t>
                      </a:r>
                    </a:p>
                  </a:txBody>
                  <a:tcPr marL="73152" marR="73152" marT="27432" marB="27432" anchor="ctr">
                    <a:solidFill>
                      <a:srgbClr val="1B2A41"/>
                    </a:solidFill>
                  </a:tcPr>
                </a:tc>
                <a:tc>
                  <a:txBody>
                    <a:bodyPr wrap="square"/>
                    <a:lstStyle/>
                    <a:p>
                      <a:pPr algn="ctr"/>
                      <a:r>
                        <a:rPr sz="1500" b="1">
                          <a:solidFill>
                            <a:srgbClr val="FFFFFF"/>
                          </a:solidFill>
                          <a:latin typeface="Calibri"/>
                        </a:rPr>
                        <a:t>Representation</a:t>
                      </a:r>
                    </a:p>
                  </a:txBody>
                  <a:tcPr marL="73152" marR="73152" marT="27432" marB="27432" anchor="ctr">
                    <a:solidFill>
                      <a:srgbClr val="1B2A41"/>
                    </a:solidFill>
                  </a:tcPr>
                </a:tc>
                <a:tc>
                  <a:txBody>
                    <a:bodyPr wrap="square"/>
                    <a:lstStyle/>
                    <a:p>
                      <a:pPr algn="ctr"/>
                      <a:r>
                        <a:rPr sz="1500" b="1">
                          <a:solidFill>
                            <a:srgbClr val="FFFFFF"/>
                          </a:solidFill>
                          <a:latin typeface="Calibri"/>
                        </a:rPr>
                        <a:t>ROC-AUC (± SEM)</a:t>
                      </a:r>
                    </a:p>
                  </a:txBody>
                  <a:tcPr marL="73152" marR="73152" marT="27432" marB="27432" anchor="ctr">
                    <a:solidFill>
                      <a:srgbClr val="1B2A41"/>
                    </a:solidFill>
                  </a:tcPr>
                </a:tc>
                <a:tc>
                  <a:txBody>
                    <a:bodyPr wrap="square"/>
                    <a:lstStyle/>
                    <a:p>
                      <a:pPr algn="ctr"/>
                      <a:r>
                        <a:rPr sz="1500" b="1">
                          <a:solidFill>
                            <a:srgbClr val="FFFFFF"/>
                          </a:solidFill>
                          <a:latin typeface="Calibri"/>
                        </a:rPr>
                        <a:t>AP (± SEM)</a:t>
                      </a:r>
                    </a:p>
                  </a:txBody>
                  <a:tcPr marL="73152" marR="73152" marT="27432" marB="27432" anchor="ctr">
                    <a:solidFill>
                      <a:srgbClr val="1B2A41"/>
                    </a:solidFill>
                  </a:tcPr>
                </a:tc>
                <a:tc>
                  <a:txBody>
                    <a:bodyPr wrap="square"/>
                    <a:lstStyle/>
                    <a:p>
                      <a:pPr algn="ctr"/>
                      <a:r>
                        <a:rPr sz="1500" b="1">
                          <a:solidFill>
                            <a:srgbClr val="FFFFFF"/>
                          </a:solidFill>
                          <a:latin typeface="Calibri"/>
                        </a:rPr>
                        <a:t>Macro F1</a:t>
                      </a:r>
                    </a:p>
                  </a:txBody>
                  <a:tcPr marL="73152" marR="73152" marT="27432" marB="27432" anchor="ctr">
                    <a:solidFill>
                      <a:srgbClr val="1B2A41"/>
                    </a:solidFill>
                  </a:tcPr>
                </a:tc>
                <a:tc>
                  <a:txBody>
                    <a:bodyPr wrap="square"/>
                    <a:lstStyle/>
                    <a:p>
                      <a:pPr algn="ctr"/>
                      <a:r>
                        <a:rPr sz="1500" b="1">
                          <a:solidFill>
                            <a:srgbClr val="FFFFFF"/>
                          </a:solidFill>
                          <a:latin typeface="Calibri"/>
                        </a:rPr>
                        <a:t>Balanced acc.</a:t>
                      </a:r>
                    </a:p>
                  </a:txBody>
                  <a:tcPr marL="73152" marR="73152" marT="27432" marB="27432" anchor="ctr">
                    <a:solidFill>
                      <a:srgbClr val="1B2A41"/>
                    </a:solidFill>
                  </a:tcPr>
                </a:tc>
              </a:tr>
              <a:tr h="457200">
                <a:tc>
                  <a:txBody>
                    <a:bodyPr wrap="square"/>
                    <a:lstStyle/>
                    <a:p>
                      <a:pPr algn="l"/>
                      <a:r>
                        <a:rPr sz="1500" b="0">
                          <a:solidFill>
                            <a:srgbClr val="222B36"/>
                          </a:solidFill>
                          <a:latin typeface="Calibri"/>
                        </a:rPr>
                        <a:t>LR</a:t>
                      </a:r>
                    </a:p>
                  </a:txBody>
                  <a:tcPr marL="73152" marR="73152" marT="27432" marB="27432" anchor="ctr">
                    <a:solidFill>
                      <a:srgbClr val="FFFFFF"/>
                    </a:solidFill>
                  </a:tcPr>
                </a:tc>
                <a:tc>
                  <a:txBody>
                    <a:bodyPr wrap="square"/>
                    <a:lstStyle/>
                    <a:p>
                      <a:pPr algn="ctr"/>
                      <a:r>
                        <a:rPr sz="1500" b="0">
                          <a:solidFill>
                            <a:srgbClr val="222B36"/>
                          </a:solidFill>
                          <a:latin typeface="Calibri"/>
                        </a:rPr>
                        <a:t>Morgan (2048)</a:t>
                      </a:r>
                    </a:p>
                  </a:txBody>
                  <a:tcPr marL="73152" marR="73152" marT="27432" marB="27432" anchor="ctr">
                    <a:solidFill>
                      <a:srgbClr val="FFFFFF"/>
                    </a:solidFill>
                  </a:tcPr>
                </a:tc>
                <a:tc>
                  <a:txBody>
                    <a:bodyPr wrap="square"/>
                    <a:lstStyle/>
                    <a:p>
                      <a:pPr algn="ctr"/>
                      <a:r>
                        <a:rPr sz="1500" b="0">
                          <a:solidFill>
                            <a:srgbClr val="222B36"/>
                          </a:solidFill>
                          <a:latin typeface="Calibri"/>
                        </a:rPr>
                        <a:t>0.6987 ± 0.0149</a:t>
                      </a:r>
                    </a:p>
                  </a:txBody>
                  <a:tcPr marL="73152" marR="73152" marT="27432" marB="27432" anchor="ctr">
                    <a:solidFill>
                      <a:srgbClr val="FFFFFF"/>
                    </a:solidFill>
                  </a:tcPr>
                </a:tc>
                <a:tc>
                  <a:txBody>
                    <a:bodyPr wrap="square"/>
                    <a:lstStyle/>
                    <a:p>
                      <a:pPr algn="ctr"/>
                      <a:r>
                        <a:rPr sz="1500" b="0">
                          <a:solidFill>
                            <a:srgbClr val="222B36"/>
                          </a:solidFill>
                          <a:latin typeface="Calibri"/>
                        </a:rPr>
                        <a:t>0.2602 ± 0.0341</a:t>
                      </a:r>
                    </a:p>
                  </a:txBody>
                  <a:tcPr marL="73152" marR="73152" marT="27432" marB="27432" anchor="ctr">
                    <a:solidFill>
                      <a:srgbClr val="FFFFFF"/>
                    </a:solidFill>
                  </a:tcPr>
                </a:tc>
                <a:tc>
                  <a:txBody>
                    <a:bodyPr wrap="square"/>
                    <a:lstStyle/>
                    <a:p>
                      <a:pPr algn="ctr"/>
                      <a:r>
                        <a:rPr sz="1500" b="0">
                          <a:solidFill>
                            <a:srgbClr val="222B36"/>
                          </a:solidFill>
                          <a:latin typeface="Calibri"/>
                        </a:rPr>
                        <a:t>0.3001</a:t>
                      </a:r>
                    </a:p>
                  </a:txBody>
                  <a:tcPr marL="73152" marR="73152" marT="27432" marB="27432" anchor="ctr">
                    <a:solidFill>
                      <a:srgbClr val="FFFFFF"/>
                    </a:solidFill>
                  </a:tcPr>
                </a:tc>
                <a:tc>
                  <a:txBody>
                    <a:bodyPr wrap="square"/>
                    <a:lstStyle/>
                    <a:p>
                      <a:pPr algn="ctr"/>
                      <a:r>
                        <a:rPr sz="1500" b="0">
                          <a:solidFill>
                            <a:srgbClr val="222B36"/>
                          </a:solidFill>
                          <a:latin typeface="Calibri"/>
                        </a:rPr>
                        <a:t>0.6216</a:t>
                      </a:r>
                    </a:p>
                  </a:txBody>
                  <a:tcPr marL="73152" marR="73152" marT="27432" marB="27432" anchor="ctr">
                    <a:solidFill>
                      <a:srgbClr val="FFFFFF"/>
                    </a:solidFill>
                  </a:tcPr>
                </a:tc>
              </a:tr>
              <a:tr h="457200">
                <a:tc>
                  <a:txBody>
                    <a:bodyPr wrap="square"/>
                    <a:lstStyle/>
                    <a:p>
                      <a:pPr algn="l"/>
                      <a:r>
                        <a:rPr sz="1500" b="0">
                          <a:solidFill>
                            <a:srgbClr val="222B36"/>
                          </a:solidFill>
                          <a:latin typeface="Calibri"/>
                        </a:rPr>
                        <a:t>LR</a:t>
                      </a:r>
                    </a:p>
                  </a:txBody>
                  <a:tcPr marL="73152" marR="73152" marT="27432" marB="27432" anchor="ctr">
                    <a:solidFill>
                      <a:srgbClr val="F1F4F8"/>
                    </a:solidFill>
                  </a:tcPr>
                </a:tc>
                <a:tc>
                  <a:txBody>
                    <a:bodyPr wrap="square"/>
                    <a:lstStyle/>
                    <a:p>
                      <a:pPr algn="ctr"/>
                      <a:r>
                        <a:rPr sz="1500" b="0">
                          <a:solidFill>
                            <a:srgbClr val="222B36"/>
                          </a:solidFill>
                          <a:latin typeface="Calibri"/>
                        </a:rPr>
                        <a:t>Descriptors (9)</a:t>
                      </a:r>
                    </a:p>
                  </a:txBody>
                  <a:tcPr marL="73152" marR="73152" marT="27432" marB="27432" anchor="ctr">
                    <a:solidFill>
                      <a:srgbClr val="F1F4F8"/>
                    </a:solidFill>
                  </a:tcPr>
                </a:tc>
                <a:tc>
                  <a:txBody>
                    <a:bodyPr wrap="square"/>
                    <a:lstStyle/>
                    <a:p>
                      <a:pPr algn="ctr"/>
                      <a:r>
                        <a:rPr sz="1500" b="0">
                          <a:solidFill>
                            <a:srgbClr val="222B36"/>
                          </a:solidFill>
                          <a:latin typeface="Calibri"/>
                        </a:rPr>
                        <a:t>0.7203 ± 0.0169</a:t>
                      </a:r>
                    </a:p>
                  </a:txBody>
                  <a:tcPr marL="73152" marR="73152" marT="27432" marB="27432" anchor="ctr">
                    <a:solidFill>
                      <a:srgbClr val="F1F4F8"/>
                    </a:solidFill>
                  </a:tcPr>
                </a:tc>
                <a:tc>
                  <a:txBody>
                    <a:bodyPr wrap="square"/>
                    <a:lstStyle/>
                    <a:p>
                      <a:pPr algn="ctr"/>
                      <a:r>
                        <a:rPr sz="1500" b="0">
                          <a:solidFill>
                            <a:srgbClr val="222B36"/>
                          </a:solidFill>
                          <a:latin typeface="Calibri"/>
                        </a:rPr>
                        <a:t>0.1968 ± 0.0397</a:t>
                      </a:r>
                    </a:p>
                  </a:txBody>
                  <a:tcPr marL="73152" marR="73152" marT="27432" marB="27432" anchor="ctr">
                    <a:solidFill>
                      <a:srgbClr val="F1F4F8"/>
                    </a:solidFill>
                  </a:tcPr>
                </a:tc>
                <a:tc>
                  <a:txBody>
                    <a:bodyPr wrap="square"/>
                    <a:lstStyle/>
                    <a:p>
                      <a:pPr algn="ctr"/>
                      <a:r>
                        <a:rPr sz="1500" b="0">
                          <a:solidFill>
                            <a:srgbClr val="222B36"/>
                          </a:solidFill>
                          <a:latin typeface="Calibri"/>
                        </a:rPr>
                        <a:t>0.2472</a:t>
                      </a:r>
                    </a:p>
                  </a:txBody>
                  <a:tcPr marL="73152" marR="73152" marT="27432" marB="27432" anchor="ctr">
                    <a:solidFill>
                      <a:srgbClr val="F1F4F8"/>
                    </a:solidFill>
                  </a:tcPr>
                </a:tc>
                <a:tc>
                  <a:txBody>
                    <a:bodyPr wrap="square"/>
                    <a:lstStyle/>
                    <a:p>
                      <a:pPr algn="ctr"/>
                      <a:r>
                        <a:rPr sz="1500" b="0">
                          <a:solidFill>
                            <a:srgbClr val="222B36"/>
                          </a:solidFill>
                          <a:latin typeface="Calibri"/>
                        </a:rPr>
                        <a:t>0.6188</a:t>
                      </a:r>
                    </a:p>
                  </a:txBody>
                  <a:tcPr marL="73152" marR="73152" marT="27432" marB="27432" anchor="ctr">
                    <a:solidFill>
                      <a:srgbClr val="F1F4F8"/>
                    </a:solidFill>
                  </a:tcPr>
                </a:tc>
              </a:tr>
              <a:tr h="457200">
                <a:tc>
                  <a:txBody>
                    <a:bodyPr wrap="square"/>
                    <a:lstStyle/>
                    <a:p>
                      <a:pPr algn="l"/>
                      <a:r>
                        <a:rPr sz="1500" b="0">
                          <a:solidFill>
                            <a:srgbClr val="222B36"/>
                          </a:solidFill>
                          <a:latin typeface="Calibri"/>
                        </a:rPr>
                        <a:t>LR</a:t>
                      </a:r>
                    </a:p>
                  </a:txBody>
                  <a:tcPr marL="73152" marR="73152" marT="27432" marB="27432" anchor="ctr">
                    <a:solidFill>
                      <a:srgbClr val="FFFFFF"/>
                    </a:solidFill>
                  </a:tcPr>
                </a:tc>
                <a:tc>
                  <a:txBody>
                    <a:bodyPr wrap="square"/>
                    <a:lstStyle/>
                    <a:p>
                      <a:pPr algn="ctr"/>
                      <a:r>
                        <a:rPr sz="1500" b="0">
                          <a:solidFill>
                            <a:srgbClr val="222B36"/>
                          </a:solidFill>
                          <a:latin typeface="Calibri"/>
                        </a:rPr>
                        <a:t>Combined (2057)</a:t>
                      </a:r>
                    </a:p>
                  </a:txBody>
                  <a:tcPr marL="73152" marR="73152" marT="27432" marB="27432" anchor="ctr">
                    <a:solidFill>
                      <a:srgbClr val="FFFFFF"/>
                    </a:solidFill>
                  </a:tcPr>
                </a:tc>
                <a:tc>
                  <a:txBody>
                    <a:bodyPr wrap="square"/>
                    <a:lstStyle/>
                    <a:p>
                      <a:pPr algn="ctr"/>
                      <a:r>
                        <a:rPr sz="1500" b="0">
                          <a:solidFill>
                            <a:srgbClr val="222B36"/>
                          </a:solidFill>
                          <a:latin typeface="Calibri"/>
                        </a:rPr>
                        <a:t>0.7138 ± 0.0158</a:t>
                      </a:r>
                    </a:p>
                  </a:txBody>
                  <a:tcPr marL="73152" marR="73152" marT="27432" marB="27432" anchor="ctr">
                    <a:solidFill>
                      <a:srgbClr val="FFFFFF"/>
                    </a:solidFill>
                  </a:tcPr>
                </a:tc>
                <a:tc>
                  <a:txBody>
                    <a:bodyPr wrap="square"/>
                    <a:lstStyle/>
                    <a:p>
                      <a:pPr algn="ctr"/>
                      <a:r>
                        <a:rPr sz="1500" b="0">
                          <a:solidFill>
                            <a:srgbClr val="222B36"/>
                          </a:solidFill>
                          <a:latin typeface="Calibri"/>
                        </a:rPr>
                        <a:t>0.2341 ± 0.0338</a:t>
                      </a:r>
                    </a:p>
                  </a:txBody>
                  <a:tcPr marL="73152" marR="73152" marT="27432" marB="27432" anchor="ctr">
                    <a:solidFill>
                      <a:srgbClr val="FFFFFF"/>
                    </a:solidFill>
                  </a:tcPr>
                </a:tc>
                <a:tc>
                  <a:txBody>
                    <a:bodyPr wrap="square"/>
                    <a:lstStyle/>
                    <a:p>
                      <a:pPr algn="ctr"/>
                      <a:r>
                        <a:rPr sz="1500" b="0">
                          <a:solidFill>
                            <a:srgbClr val="222B36"/>
                          </a:solidFill>
                          <a:latin typeface="Calibri"/>
                        </a:rPr>
                        <a:t>0.3159</a:t>
                      </a:r>
                    </a:p>
                  </a:txBody>
                  <a:tcPr marL="73152" marR="73152" marT="27432" marB="27432" anchor="ctr">
                    <a:solidFill>
                      <a:srgbClr val="FFFFFF"/>
                    </a:solidFill>
                  </a:tcPr>
                </a:tc>
                <a:tc>
                  <a:txBody>
                    <a:bodyPr wrap="square"/>
                    <a:lstStyle/>
                    <a:p>
                      <a:pPr algn="ctr"/>
                      <a:r>
                        <a:rPr sz="1500" b="0">
                          <a:solidFill>
                            <a:srgbClr val="222B36"/>
                          </a:solidFill>
                          <a:latin typeface="Calibri"/>
                        </a:rPr>
                        <a:t>0.6404</a:t>
                      </a:r>
                    </a:p>
                  </a:txBody>
                  <a:tcPr marL="73152" marR="73152" marT="27432" marB="27432" anchor="ctr">
                    <a:solidFill>
                      <a:srgbClr val="FFFFFF"/>
                    </a:solidFill>
                  </a:tcPr>
                </a:tc>
              </a:tr>
              <a:tr h="457200">
                <a:tc>
                  <a:txBody>
                    <a:bodyPr wrap="square"/>
                    <a:lstStyle/>
                    <a:p>
                      <a:pPr algn="l"/>
                      <a:r>
                        <a:rPr sz="1500" b="0">
                          <a:solidFill>
                            <a:srgbClr val="222B36"/>
                          </a:solidFill>
                          <a:latin typeface="Calibri"/>
                        </a:rPr>
                        <a:t>RF</a:t>
                      </a:r>
                    </a:p>
                  </a:txBody>
                  <a:tcPr marL="73152" marR="73152" marT="27432" marB="27432" anchor="ctr">
                    <a:solidFill>
                      <a:srgbClr val="F1F4F8"/>
                    </a:solidFill>
                  </a:tcPr>
                </a:tc>
                <a:tc>
                  <a:txBody>
                    <a:bodyPr wrap="square"/>
                    <a:lstStyle/>
                    <a:p>
                      <a:pPr algn="ctr"/>
                      <a:r>
                        <a:rPr sz="1500" b="0">
                          <a:solidFill>
                            <a:srgbClr val="222B36"/>
                          </a:solidFill>
                          <a:latin typeface="Calibri"/>
                        </a:rPr>
                        <a:t>Morgan (2048)</a:t>
                      </a:r>
                    </a:p>
                  </a:txBody>
                  <a:tcPr marL="73152" marR="73152" marT="27432" marB="27432" anchor="ctr">
                    <a:solidFill>
                      <a:srgbClr val="F1F4F8"/>
                    </a:solidFill>
                  </a:tcPr>
                </a:tc>
                <a:tc>
                  <a:txBody>
                    <a:bodyPr wrap="square"/>
                    <a:lstStyle/>
                    <a:p>
                      <a:pPr algn="ctr"/>
                      <a:r>
                        <a:rPr sz="1500" b="0">
                          <a:solidFill>
                            <a:srgbClr val="222B36"/>
                          </a:solidFill>
                          <a:latin typeface="Calibri"/>
                        </a:rPr>
                        <a:t>0.7208 ± 0.0199</a:t>
                      </a:r>
                    </a:p>
                  </a:txBody>
                  <a:tcPr marL="73152" marR="73152" marT="27432" marB="27432" anchor="ctr">
                    <a:solidFill>
                      <a:srgbClr val="F1F4F8"/>
                    </a:solidFill>
                  </a:tcPr>
                </a:tc>
                <a:tc>
                  <a:txBody>
                    <a:bodyPr wrap="square"/>
                    <a:lstStyle/>
                    <a:p>
                      <a:pPr algn="ctr"/>
                      <a:r>
                        <a:rPr sz="1500" b="0">
                          <a:solidFill>
                            <a:srgbClr val="222B36"/>
                          </a:solidFill>
                          <a:latin typeface="Calibri"/>
                        </a:rPr>
                        <a:t>0.3458 ± 0.0316</a:t>
                      </a:r>
                    </a:p>
                  </a:txBody>
                  <a:tcPr marL="73152" marR="73152" marT="27432" marB="27432" anchor="ctr">
                    <a:solidFill>
                      <a:srgbClr val="F1F4F8"/>
                    </a:solidFill>
                  </a:tcPr>
                </a:tc>
                <a:tc>
                  <a:txBody>
                    <a:bodyPr wrap="square"/>
                    <a:lstStyle/>
                    <a:p>
                      <a:pPr algn="ctr"/>
                      <a:r>
                        <a:rPr sz="1500" b="0">
                          <a:solidFill>
                            <a:srgbClr val="222B36"/>
                          </a:solidFill>
                          <a:latin typeface="Calibri"/>
                        </a:rPr>
                        <a:t>0.3712</a:t>
                      </a:r>
                    </a:p>
                  </a:txBody>
                  <a:tcPr marL="73152" marR="73152" marT="27432" marB="27432" anchor="ctr">
                    <a:solidFill>
                      <a:srgbClr val="F1F4F8"/>
                    </a:solidFill>
                  </a:tcPr>
                </a:tc>
                <a:tc>
                  <a:txBody>
                    <a:bodyPr wrap="square"/>
                    <a:lstStyle/>
                    <a:p>
                      <a:pPr algn="ctr"/>
                      <a:r>
                        <a:rPr sz="1500" b="0">
                          <a:solidFill>
                            <a:srgbClr val="222B36"/>
                          </a:solidFill>
                          <a:latin typeface="Calibri"/>
                        </a:rPr>
                        <a:t>0.6475</a:t>
                      </a:r>
                    </a:p>
                  </a:txBody>
                  <a:tcPr marL="73152" marR="73152" marT="27432" marB="27432" anchor="ctr">
                    <a:solidFill>
                      <a:srgbClr val="F1F4F8"/>
                    </a:solidFill>
                  </a:tcPr>
                </a:tc>
              </a:tr>
              <a:tr h="457200">
                <a:tc>
                  <a:txBody>
                    <a:bodyPr wrap="square"/>
                    <a:lstStyle/>
                    <a:p>
                      <a:pPr algn="l"/>
                      <a:r>
                        <a:rPr sz="1500" b="0">
                          <a:solidFill>
                            <a:srgbClr val="222B36"/>
                          </a:solidFill>
                          <a:latin typeface="Calibri"/>
                        </a:rPr>
                        <a:t>RF</a:t>
                      </a:r>
                    </a:p>
                  </a:txBody>
                  <a:tcPr marL="73152" marR="73152" marT="27432" marB="27432" anchor="ctr">
                    <a:solidFill>
                      <a:srgbClr val="FFFFFF"/>
                    </a:solidFill>
                  </a:tcPr>
                </a:tc>
                <a:tc>
                  <a:txBody>
                    <a:bodyPr wrap="square"/>
                    <a:lstStyle/>
                    <a:p>
                      <a:pPr algn="ctr"/>
                      <a:r>
                        <a:rPr sz="1500" b="0">
                          <a:solidFill>
                            <a:srgbClr val="222B36"/>
                          </a:solidFill>
                          <a:latin typeface="Calibri"/>
                        </a:rPr>
                        <a:t>Descriptors (9)</a:t>
                      </a:r>
                    </a:p>
                  </a:txBody>
                  <a:tcPr marL="73152" marR="73152" marT="27432" marB="27432" anchor="ctr">
                    <a:solidFill>
                      <a:srgbClr val="FFFFFF"/>
                    </a:solidFill>
                  </a:tcPr>
                </a:tc>
                <a:tc>
                  <a:txBody>
                    <a:bodyPr wrap="square"/>
                    <a:lstStyle/>
                    <a:p>
                      <a:pPr algn="ctr"/>
                      <a:r>
                        <a:rPr sz="1500" b="0">
                          <a:solidFill>
                            <a:srgbClr val="222B36"/>
                          </a:solidFill>
                          <a:latin typeface="Calibri"/>
                        </a:rPr>
                        <a:t>0.7215 ± 0.0216</a:t>
                      </a:r>
                    </a:p>
                  </a:txBody>
                  <a:tcPr marL="73152" marR="73152" marT="27432" marB="27432" anchor="ctr">
                    <a:solidFill>
                      <a:srgbClr val="FFFFFF"/>
                    </a:solidFill>
                  </a:tcPr>
                </a:tc>
                <a:tc>
                  <a:txBody>
                    <a:bodyPr wrap="square"/>
                    <a:lstStyle/>
                    <a:p>
                      <a:pPr algn="ctr"/>
                      <a:r>
                        <a:rPr sz="1500" b="0">
                          <a:solidFill>
                            <a:srgbClr val="222B36"/>
                          </a:solidFill>
                          <a:latin typeface="Calibri"/>
                        </a:rPr>
                        <a:t>0.2901 ± 0.0408</a:t>
                      </a:r>
                    </a:p>
                  </a:txBody>
                  <a:tcPr marL="73152" marR="73152" marT="27432" marB="27432" anchor="ctr">
                    <a:solidFill>
                      <a:srgbClr val="FFFFFF"/>
                    </a:solidFill>
                  </a:tcPr>
                </a:tc>
                <a:tc>
                  <a:txBody>
                    <a:bodyPr wrap="square"/>
                    <a:lstStyle/>
                    <a:p>
                      <a:pPr algn="ctr"/>
                      <a:r>
                        <a:rPr sz="1500" b="0">
                          <a:solidFill>
                            <a:srgbClr val="222B36"/>
                          </a:solidFill>
                          <a:latin typeface="Calibri"/>
                        </a:rPr>
                        <a:t>0.3036</a:t>
                      </a:r>
                    </a:p>
                  </a:txBody>
                  <a:tcPr marL="73152" marR="73152" marT="27432" marB="27432" anchor="ctr">
                    <a:solidFill>
                      <a:srgbClr val="FFFFFF"/>
                    </a:solidFill>
                  </a:tcPr>
                </a:tc>
                <a:tc>
                  <a:txBody>
                    <a:bodyPr wrap="square"/>
                    <a:lstStyle/>
                    <a:p>
                      <a:pPr algn="ctr"/>
                      <a:r>
                        <a:rPr sz="1500" b="0">
                          <a:solidFill>
                            <a:srgbClr val="222B36"/>
                          </a:solidFill>
                          <a:latin typeface="Calibri"/>
                        </a:rPr>
                        <a:t>0.6337</a:t>
                      </a:r>
                    </a:p>
                  </a:txBody>
                  <a:tcPr marL="73152" marR="73152" marT="27432" marB="27432" anchor="ctr">
                    <a:solidFill>
                      <a:srgbClr val="FFFFFF"/>
                    </a:solidFill>
                  </a:tcPr>
                </a:tc>
              </a:tr>
              <a:tr h="457200">
                <a:tc>
                  <a:txBody>
                    <a:bodyPr wrap="square"/>
                    <a:lstStyle/>
                    <a:p>
                      <a:pPr algn="l"/>
                      <a:r>
                        <a:rPr sz="1500" b="1">
                          <a:solidFill>
                            <a:srgbClr val="222B36"/>
                          </a:solidFill>
                          <a:latin typeface="Calibri"/>
                        </a:rPr>
                        <a:t>RF</a:t>
                      </a:r>
                    </a:p>
                  </a:txBody>
                  <a:tcPr marL="73152" marR="73152" marT="27432" marB="27432" anchor="ctr">
                    <a:solidFill>
                      <a:srgbClr val="F1F4F8"/>
                    </a:solidFill>
                  </a:tcPr>
                </a:tc>
                <a:tc>
                  <a:txBody>
                    <a:bodyPr wrap="square"/>
                    <a:lstStyle/>
                    <a:p>
                      <a:pPr algn="ctr"/>
                      <a:r>
                        <a:rPr sz="1500" b="1">
                          <a:solidFill>
                            <a:srgbClr val="222B36"/>
                          </a:solidFill>
                          <a:latin typeface="Calibri"/>
                        </a:rPr>
                        <a:t>Combined (2057)</a:t>
                      </a:r>
                    </a:p>
                  </a:txBody>
                  <a:tcPr marL="73152" marR="73152" marT="27432" marB="27432" anchor="ctr">
                    <a:solidFill>
                      <a:srgbClr val="F1F4F8"/>
                    </a:solidFill>
                  </a:tcPr>
                </a:tc>
                <a:tc>
                  <a:txBody>
                    <a:bodyPr wrap="square"/>
                    <a:lstStyle/>
                    <a:p>
                      <a:pPr algn="ctr"/>
                      <a:r>
                        <a:rPr sz="1500" b="1">
                          <a:solidFill>
                            <a:srgbClr val="222B36"/>
                          </a:solidFill>
                          <a:latin typeface="Calibri"/>
                        </a:rPr>
                        <a:t>0.7488 ± 0.0181</a:t>
                      </a:r>
                    </a:p>
                  </a:txBody>
                  <a:tcPr marL="73152" marR="73152" marT="27432" marB="27432" anchor="ctr">
                    <a:solidFill>
                      <a:srgbClr val="F1F4F8"/>
                    </a:solidFill>
                  </a:tcPr>
                </a:tc>
                <a:tc>
                  <a:txBody>
                    <a:bodyPr wrap="square"/>
                    <a:lstStyle/>
                    <a:p>
                      <a:pPr algn="ctr"/>
                      <a:r>
                        <a:rPr sz="1500" b="1">
                          <a:solidFill>
                            <a:srgbClr val="222B36"/>
                          </a:solidFill>
                          <a:latin typeface="Calibri"/>
                        </a:rPr>
                        <a:t>0.3891 ± 0.0320</a:t>
                      </a:r>
                    </a:p>
                  </a:txBody>
                  <a:tcPr marL="73152" marR="73152" marT="27432" marB="27432" anchor="ctr">
                    <a:solidFill>
                      <a:srgbClr val="F1F4F8"/>
                    </a:solidFill>
                  </a:tcPr>
                </a:tc>
                <a:tc>
                  <a:txBody>
                    <a:bodyPr wrap="square"/>
                    <a:lstStyle/>
                    <a:p>
                      <a:pPr algn="ctr"/>
                      <a:r>
                        <a:rPr sz="1500" b="1">
                          <a:solidFill>
                            <a:srgbClr val="222B36"/>
                          </a:solidFill>
                          <a:latin typeface="Calibri"/>
                        </a:rPr>
                        <a:t>0.3781</a:t>
                      </a:r>
                    </a:p>
                  </a:txBody>
                  <a:tcPr marL="73152" marR="73152" marT="27432" marB="27432" anchor="ctr">
                    <a:solidFill>
                      <a:srgbClr val="F1F4F8"/>
                    </a:solidFill>
                  </a:tcPr>
                </a:tc>
                <a:tc>
                  <a:txBody>
                    <a:bodyPr wrap="square"/>
                    <a:lstStyle/>
                    <a:p>
                      <a:pPr algn="ctr"/>
                      <a:r>
                        <a:rPr sz="1500" b="1">
                          <a:solidFill>
                            <a:srgbClr val="222B36"/>
                          </a:solidFill>
                          <a:latin typeface="Calibri"/>
                        </a:rPr>
                        <a:t>0.6636</a:t>
                      </a:r>
                    </a:p>
                  </a:txBody>
                  <a:tcPr marL="73152" marR="73152" marT="27432" marB="27432" anchor="ctr">
                    <a:solidFill>
                      <a:srgbClr val="F1F4F8"/>
                    </a:solidFill>
                  </a:tcPr>
                </a:tc>
              </a:tr>
              <a:tr h="457200">
                <a:tc>
                  <a:txBody>
                    <a:bodyPr wrap="square"/>
                    <a:lstStyle/>
                    <a:p>
                      <a:pPr algn="l"/>
                      <a:r>
                        <a:rPr sz="1500" b="0">
                          <a:solidFill>
                            <a:srgbClr val="222B36"/>
                          </a:solidFill>
                          <a:latin typeface="Calibri"/>
                        </a:rPr>
                        <a:t>XGBoost</a:t>
                      </a:r>
                    </a:p>
                  </a:txBody>
                  <a:tcPr marL="73152" marR="73152" marT="27432" marB="27432" anchor="ctr">
                    <a:solidFill>
                      <a:srgbClr val="FFFFFF"/>
                    </a:solidFill>
                  </a:tcPr>
                </a:tc>
                <a:tc>
                  <a:txBody>
                    <a:bodyPr wrap="square"/>
                    <a:lstStyle/>
                    <a:p>
                      <a:pPr algn="ctr"/>
                      <a:r>
                        <a:rPr sz="1500" b="0">
                          <a:solidFill>
                            <a:srgbClr val="222B36"/>
                          </a:solidFill>
                          <a:latin typeface="Calibri"/>
                        </a:rPr>
                        <a:t>Morgan (2048)</a:t>
                      </a:r>
                    </a:p>
                  </a:txBody>
                  <a:tcPr marL="73152" marR="73152" marT="27432" marB="27432" anchor="ctr">
                    <a:solidFill>
                      <a:srgbClr val="FFFFFF"/>
                    </a:solidFill>
                  </a:tcPr>
                </a:tc>
                <a:tc>
                  <a:txBody>
                    <a:bodyPr wrap="square"/>
                    <a:lstStyle/>
                    <a:p>
                      <a:pPr algn="ctr"/>
                      <a:r>
                        <a:rPr sz="1500" b="0">
                          <a:solidFill>
                            <a:srgbClr val="222B36"/>
                          </a:solidFill>
                          <a:latin typeface="Calibri"/>
                        </a:rPr>
                        <a:t>0.7114 ± 0.0181</a:t>
                      </a:r>
                    </a:p>
                  </a:txBody>
                  <a:tcPr marL="73152" marR="73152" marT="27432" marB="27432" anchor="ctr">
                    <a:solidFill>
                      <a:srgbClr val="FFFFFF"/>
                    </a:solidFill>
                  </a:tcPr>
                </a:tc>
                <a:tc>
                  <a:txBody>
                    <a:bodyPr wrap="square"/>
                    <a:lstStyle/>
                    <a:p>
                      <a:pPr algn="ctr"/>
                      <a:r>
                        <a:rPr sz="1500" b="0">
                          <a:solidFill>
                            <a:srgbClr val="222B36"/>
                          </a:solidFill>
                          <a:latin typeface="Calibri"/>
                        </a:rPr>
                        <a:t>0.3027 ± 0.0308</a:t>
                      </a:r>
                    </a:p>
                  </a:txBody>
                  <a:tcPr marL="73152" marR="73152" marT="27432" marB="27432" anchor="ctr">
                    <a:solidFill>
                      <a:srgbClr val="FFFFFF"/>
                    </a:solidFill>
                  </a:tcPr>
                </a:tc>
                <a:tc>
                  <a:txBody>
                    <a:bodyPr wrap="square"/>
                    <a:lstStyle/>
                    <a:p>
                      <a:pPr algn="ctr"/>
                      <a:r>
                        <a:rPr sz="1500" b="0">
                          <a:solidFill>
                            <a:srgbClr val="222B36"/>
                          </a:solidFill>
                          <a:latin typeface="Calibri"/>
                        </a:rPr>
                        <a:t>0.3351</a:t>
                      </a:r>
                    </a:p>
                  </a:txBody>
                  <a:tcPr marL="73152" marR="73152" marT="27432" marB="27432" anchor="ctr">
                    <a:solidFill>
                      <a:srgbClr val="FFFFFF"/>
                    </a:solidFill>
                  </a:tcPr>
                </a:tc>
                <a:tc>
                  <a:txBody>
                    <a:bodyPr wrap="square"/>
                    <a:lstStyle/>
                    <a:p>
                      <a:pPr algn="ctr"/>
                      <a:r>
                        <a:rPr sz="1500" b="0">
                          <a:solidFill>
                            <a:srgbClr val="222B36"/>
                          </a:solidFill>
                          <a:latin typeface="Calibri"/>
                        </a:rPr>
                        <a:t>0.6340</a:t>
                      </a:r>
                    </a:p>
                  </a:txBody>
                  <a:tcPr marL="73152" marR="73152" marT="27432" marB="27432" anchor="ctr">
                    <a:solidFill>
                      <a:srgbClr val="FFFFFF"/>
                    </a:solidFill>
                  </a:tcPr>
                </a:tc>
              </a:tr>
              <a:tr h="457200">
                <a:tc>
                  <a:txBody>
                    <a:bodyPr wrap="square"/>
                    <a:lstStyle/>
                    <a:p>
                      <a:pPr algn="l"/>
                      <a:r>
                        <a:rPr sz="1500" b="0">
                          <a:solidFill>
                            <a:srgbClr val="222B36"/>
                          </a:solidFill>
                          <a:latin typeface="Calibri"/>
                        </a:rPr>
                        <a:t>XGBoost</a:t>
                      </a:r>
                    </a:p>
                  </a:txBody>
                  <a:tcPr marL="73152" marR="73152" marT="27432" marB="27432" anchor="ctr">
                    <a:solidFill>
                      <a:srgbClr val="F1F4F8"/>
                    </a:solidFill>
                  </a:tcPr>
                </a:tc>
                <a:tc>
                  <a:txBody>
                    <a:bodyPr wrap="square"/>
                    <a:lstStyle/>
                    <a:p>
                      <a:pPr algn="ctr"/>
                      <a:r>
                        <a:rPr sz="1500" b="0">
                          <a:solidFill>
                            <a:srgbClr val="222B36"/>
                          </a:solidFill>
                          <a:latin typeface="Calibri"/>
                        </a:rPr>
                        <a:t>Descriptors (9)</a:t>
                      </a:r>
                    </a:p>
                  </a:txBody>
                  <a:tcPr marL="73152" marR="73152" marT="27432" marB="27432" anchor="ctr">
                    <a:solidFill>
                      <a:srgbClr val="F1F4F8"/>
                    </a:solidFill>
                  </a:tcPr>
                </a:tc>
                <a:tc>
                  <a:txBody>
                    <a:bodyPr wrap="square"/>
                    <a:lstStyle/>
                    <a:p>
                      <a:pPr algn="ctr"/>
                      <a:r>
                        <a:rPr sz="1500" b="0">
                          <a:solidFill>
                            <a:srgbClr val="222B36"/>
                          </a:solidFill>
                          <a:latin typeface="Calibri"/>
                        </a:rPr>
                        <a:t>0.7024 ± 0.0256</a:t>
                      </a:r>
                    </a:p>
                  </a:txBody>
                  <a:tcPr marL="73152" marR="73152" marT="27432" marB="27432" anchor="ctr">
                    <a:solidFill>
                      <a:srgbClr val="F1F4F8"/>
                    </a:solidFill>
                  </a:tcPr>
                </a:tc>
                <a:tc>
                  <a:txBody>
                    <a:bodyPr wrap="square"/>
                    <a:lstStyle/>
                    <a:p>
                      <a:pPr algn="ctr"/>
                      <a:r>
                        <a:rPr sz="1500" b="0">
                          <a:solidFill>
                            <a:srgbClr val="222B36"/>
                          </a:solidFill>
                          <a:latin typeface="Calibri"/>
                        </a:rPr>
                        <a:t>0.2911 ± 0.0454</a:t>
                      </a:r>
                    </a:p>
                  </a:txBody>
                  <a:tcPr marL="73152" marR="73152" marT="27432" marB="27432" anchor="ctr">
                    <a:solidFill>
                      <a:srgbClr val="F1F4F8"/>
                    </a:solidFill>
                  </a:tcPr>
                </a:tc>
                <a:tc>
                  <a:txBody>
                    <a:bodyPr wrap="square"/>
                    <a:lstStyle/>
                    <a:p>
                      <a:pPr algn="ctr"/>
                      <a:r>
                        <a:rPr sz="1500" b="0">
                          <a:solidFill>
                            <a:srgbClr val="222B36"/>
                          </a:solidFill>
                          <a:latin typeface="Calibri"/>
                        </a:rPr>
                        <a:t>0.3133</a:t>
                      </a:r>
                    </a:p>
                  </a:txBody>
                  <a:tcPr marL="73152" marR="73152" marT="27432" marB="27432" anchor="ctr">
                    <a:solidFill>
                      <a:srgbClr val="F1F4F8"/>
                    </a:solidFill>
                  </a:tcPr>
                </a:tc>
                <a:tc>
                  <a:txBody>
                    <a:bodyPr wrap="square"/>
                    <a:lstStyle/>
                    <a:p>
                      <a:pPr algn="ctr"/>
                      <a:r>
                        <a:rPr sz="1500" b="0">
                          <a:solidFill>
                            <a:srgbClr val="222B36"/>
                          </a:solidFill>
                          <a:latin typeface="Calibri"/>
                        </a:rPr>
                        <a:t>0.6394</a:t>
                      </a:r>
                    </a:p>
                  </a:txBody>
                  <a:tcPr marL="73152" marR="73152" marT="27432" marB="27432" anchor="ctr">
                    <a:solidFill>
                      <a:srgbClr val="F1F4F8"/>
                    </a:solidFill>
                  </a:tcPr>
                </a:tc>
              </a:tr>
              <a:tr h="457200">
                <a:tc>
                  <a:txBody>
                    <a:bodyPr wrap="square"/>
                    <a:lstStyle/>
                    <a:p>
                      <a:pPr algn="l"/>
                      <a:r>
                        <a:rPr sz="1500" b="0">
                          <a:solidFill>
                            <a:srgbClr val="222B36"/>
                          </a:solidFill>
                          <a:latin typeface="Calibri"/>
                        </a:rPr>
                        <a:t>XGBoost</a:t>
                      </a:r>
                    </a:p>
                  </a:txBody>
                  <a:tcPr marL="73152" marR="73152" marT="27432" marB="27432" anchor="ctr">
                    <a:solidFill>
                      <a:srgbClr val="FFFFFF"/>
                    </a:solidFill>
                  </a:tcPr>
                </a:tc>
                <a:tc>
                  <a:txBody>
                    <a:bodyPr wrap="square"/>
                    <a:lstStyle/>
                    <a:p>
                      <a:pPr algn="ctr"/>
                      <a:r>
                        <a:rPr sz="1500" b="0">
                          <a:solidFill>
                            <a:srgbClr val="222B36"/>
                          </a:solidFill>
                          <a:latin typeface="Calibri"/>
                        </a:rPr>
                        <a:t>Combined (2057)</a:t>
                      </a:r>
                    </a:p>
                  </a:txBody>
                  <a:tcPr marL="73152" marR="73152" marT="27432" marB="27432" anchor="ctr">
                    <a:solidFill>
                      <a:srgbClr val="FFFFFF"/>
                    </a:solidFill>
                  </a:tcPr>
                </a:tc>
                <a:tc>
                  <a:txBody>
                    <a:bodyPr wrap="square"/>
                    <a:lstStyle/>
                    <a:p>
                      <a:pPr algn="ctr"/>
                      <a:r>
                        <a:rPr sz="1500" b="0">
                          <a:solidFill>
                            <a:srgbClr val="222B36"/>
                          </a:solidFill>
                          <a:latin typeface="Calibri"/>
                        </a:rPr>
                        <a:t>0.7456 ± 0.0179</a:t>
                      </a:r>
                    </a:p>
                  </a:txBody>
                  <a:tcPr marL="73152" marR="73152" marT="27432" marB="27432" anchor="ctr">
                    <a:solidFill>
                      <a:srgbClr val="FFFFFF"/>
                    </a:solidFill>
                  </a:tcPr>
                </a:tc>
                <a:tc>
                  <a:txBody>
                    <a:bodyPr wrap="square"/>
                    <a:lstStyle/>
                    <a:p>
                      <a:pPr algn="ctr"/>
                      <a:r>
                        <a:rPr sz="1500" b="0">
                          <a:solidFill>
                            <a:srgbClr val="222B36"/>
                          </a:solidFill>
                          <a:latin typeface="Calibri"/>
                        </a:rPr>
                        <a:t>0.3495 ± 0.0406</a:t>
                      </a:r>
                    </a:p>
                  </a:txBody>
                  <a:tcPr marL="73152" marR="73152" marT="27432" marB="27432" anchor="ctr">
                    <a:solidFill>
                      <a:srgbClr val="FFFFFF"/>
                    </a:solidFill>
                  </a:tcPr>
                </a:tc>
                <a:tc>
                  <a:txBody>
                    <a:bodyPr wrap="square"/>
                    <a:lstStyle/>
                    <a:p>
                      <a:pPr algn="ctr"/>
                      <a:r>
                        <a:rPr sz="1500" b="0">
                          <a:solidFill>
                            <a:srgbClr val="222B36"/>
                          </a:solidFill>
                          <a:latin typeface="Calibri"/>
                        </a:rPr>
                        <a:t>0.3591</a:t>
                      </a:r>
                    </a:p>
                  </a:txBody>
                  <a:tcPr marL="73152" marR="73152" marT="27432" marB="27432" anchor="ctr">
                    <a:solidFill>
                      <a:srgbClr val="FFFFFF"/>
                    </a:solidFill>
                  </a:tcPr>
                </a:tc>
                <a:tc>
                  <a:txBody>
                    <a:bodyPr wrap="square"/>
                    <a:lstStyle/>
                    <a:p>
                      <a:pPr algn="ctr"/>
                      <a:r>
                        <a:rPr sz="1500" b="0">
                          <a:solidFill>
                            <a:srgbClr val="222B36"/>
                          </a:solidFill>
                          <a:latin typeface="Calibri"/>
                        </a:rPr>
                        <a:t>0.6485</a:t>
                      </a:r>
                    </a:p>
                  </a:txBody>
                  <a:tcPr marL="73152" marR="73152" marT="27432" marB="27432"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What the results show</a:t>
            </a:r>
          </a:p>
        </p:txBody>
      </p:sp>
      <p:sp>
        <p:nvSpPr>
          <p:cNvPr id="3" name="TextBox 2"/>
          <p:cNvSpPr txBox="1"/>
          <p:nvPr/>
        </p:nvSpPr>
        <p:spPr>
          <a:xfrm>
            <a:off x="548640" y="6355080"/>
            <a:ext cx="9601200" cy="320040"/>
          </a:xfrm>
          <a:prstGeom prst="rect">
            <a:avLst/>
          </a:prstGeom>
          <a:noFill/>
        </p:spPr>
        <p:txBody>
          <a:bodyPr wrap="square" anchor="t" lIns="45720" rIns="45720">
            <a:spAutoFit/>
          </a:bodyPr>
          <a:lstStyle/>
          <a:p>
            <a:pPr algn="l"/>
            <a:r>
              <a:rPr sz="1000" b="0" i="0">
                <a:solidFill>
                  <a:srgbClr val="5C6773"/>
                </a:solidFill>
                <a:latin typeface="Calibri"/>
              </a:rPr>
              <a:t>Per-endpoint values: results/metrics/model_benchmark_summary.json (RF, combined features)</a:t>
            </a:r>
          </a:p>
        </p:txBody>
      </p:sp>
      <p:sp>
        <p:nvSpPr>
          <p:cNvPr id="4" name="TextBox 3"/>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13</a:t>
            </a:r>
          </a:p>
        </p:txBody>
      </p:sp>
      <p:sp>
        <p:nvSpPr>
          <p:cNvPr id="5" name="TextBox 4"/>
          <p:cNvSpPr txBox="1"/>
          <p:nvPr/>
        </p:nvSpPr>
        <p:spPr>
          <a:xfrm>
            <a:off x="548640" y="1417320"/>
            <a:ext cx="3383280" cy="797560"/>
          </a:xfrm>
          <a:prstGeom prst="rect">
            <a:avLst/>
          </a:prstGeom>
          <a:noFill/>
        </p:spPr>
        <p:txBody>
          <a:bodyPr wrap="square" anchor="t" lIns="45720" rIns="45720">
            <a:spAutoFit/>
          </a:bodyPr>
          <a:lstStyle/>
          <a:p>
            <a:pPr algn="l"/>
            <a:r>
              <a:rPr sz="4000" b="1" i="0">
                <a:solidFill>
                  <a:srgbClr val="009E73"/>
                </a:solidFill>
                <a:latin typeface="Cambria"/>
              </a:rPr>
              <a:t>11/12</a:t>
            </a:r>
          </a:p>
        </p:txBody>
      </p:sp>
      <p:sp>
        <p:nvSpPr>
          <p:cNvPr id="6" name="TextBox 5"/>
          <p:cNvSpPr txBox="1"/>
          <p:nvPr/>
        </p:nvSpPr>
        <p:spPr>
          <a:xfrm>
            <a:off x="548640" y="2214880"/>
            <a:ext cx="3383280" cy="640080"/>
          </a:xfrm>
          <a:prstGeom prst="rect">
            <a:avLst/>
          </a:prstGeom>
          <a:noFill/>
        </p:spPr>
        <p:txBody>
          <a:bodyPr wrap="square" anchor="t" lIns="45720" rIns="45720">
            <a:spAutoFit/>
          </a:bodyPr>
          <a:lstStyle/>
          <a:p>
            <a:pPr algn="l"/>
            <a:r>
              <a:rPr sz="1400" b="0" i="0">
                <a:solidFill>
                  <a:srgbClr val="5C6773"/>
                </a:solidFill>
                <a:latin typeface="Calibri"/>
              </a:rPr>
              <a:t>endpoints where combined beats
Morgan-only ROC-AUC (RF)</a:t>
            </a:r>
          </a:p>
        </p:txBody>
      </p:sp>
      <p:sp>
        <p:nvSpPr>
          <p:cNvPr id="7" name="TextBox 6"/>
          <p:cNvSpPr txBox="1"/>
          <p:nvPr/>
        </p:nvSpPr>
        <p:spPr>
          <a:xfrm>
            <a:off x="548640" y="2971800"/>
            <a:ext cx="3383280" cy="797560"/>
          </a:xfrm>
          <a:prstGeom prst="rect">
            <a:avLst/>
          </a:prstGeom>
          <a:noFill/>
        </p:spPr>
        <p:txBody>
          <a:bodyPr wrap="square" anchor="t" lIns="45720" rIns="45720">
            <a:spAutoFit/>
          </a:bodyPr>
          <a:lstStyle/>
          <a:p>
            <a:pPr algn="l"/>
            <a:r>
              <a:rPr sz="4000" b="1" i="0">
                <a:solidFill>
                  <a:srgbClr val="E69F00"/>
                </a:solidFill>
                <a:latin typeface="Cambria"/>
              </a:rPr>
              <a:t>6/12</a:t>
            </a:r>
          </a:p>
        </p:txBody>
      </p:sp>
      <p:sp>
        <p:nvSpPr>
          <p:cNvPr id="8" name="TextBox 7"/>
          <p:cNvSpPr txBox="1"/>
          <p:nvPr/>
        </p:nvSpPr>
        <p:spPr>
          <a:xfrm>
            <a:off x="548640" y="3769359"/>
            <a:ext cx="3383280" cy="640080"/>
          </a:xfrm>
          <a:prstGeom prst="rect">
            <a:avLst/>
          </a:prstGeom>
          <a:noFill/>
        </p:spPr>
        <p:txBody>
          <a:bodyPr wrap="square" anchor="t" lIns="45720" rIns="45720">
            <a:spAutoFit/>
          </a:bodyPr>
          <a:lstStyle/>
          <a:p>
            <a:pPr algn="l"/>
            <a:r>
              <a:rPr sz="1400" b="0" i="0">
                <a:solidFill>
                  <a:srgbClr val="5C6773"/>
                </a:solidFill>
                <a:latin typeface="Calibri"/>
              </a:rPr>
              <a:t>endpoints RF beats XGBoost
(combined): effectively a tie</a:t>
            </a:r>
          </a:p>
        </p:txBody>
      </p:sp>
      <p:sp>
        <p:nvSpPr>
          <p:cNvPr id="9" name="TextBox 8"/>
          <p:cNvSpPr txBox="1"/>
          <p:nvPr/>
        </p:nvSpPr>
        <p:spPr>
          <a:xfrm>
            <a:off x="548640" y="4526280"/>
            <a:ext cx="3383280" cy="797560"/>
          </a:xfrm>
          <a:prstGeom prst="rect">
            <a:avLst/>
          </a:prstGeom>
          <a:noFill/>
        </p:spPr>
        <p:txBody>
          <a:bodyPr wrap="square" anchor="t" lIns="45720" rIns="45720">
            <a:spAutoFit/>
          </a:bodyPr>
          <a:lstStyle/>
          <a:p>
            <a:pPr algn="l"/>
            <a:r>
              <a:rPr sz="4000" b="1" i="0">
                <a:solidFill>
                  <a:srgbClr val="0072B2"/>
                </a:solidFill>
                <a:latin typeface="Cambria"/>
              </a:rPr>
              <a:t>1.7–19×</a:t>
            </a:r>
          </a:p>
        </p:txBody>
      </p:sp>
      <p:sp>
        <p:nvSpPr>
          <p:cNvPr id="10" name="TextBox 9"/>
          <p:cNvSpPr txBox="1"/>
          <p:nvPr/>
        </p:nvSpPr>
        <p:spPr>
          <a:xfrm>
            <a:off x="548640" y="5323840"/>
            <a:ext cx="3383280" cy="640080"/>
          </a:xfrm>
          <a:prstGeom prst="rect">
            <a:avLst/>
          </a:prstGeom>
          <a:noFill/>
        </p:spPr>
        <p:txBody>
          <a:bodyPr wrap="square" anchor="t" lIns="45720" rIns="45720">
            <a:spAutoFit/>
          </a:bodyPr>
          <a:lstStyle/>
          <a:p>
            <a:pPr algn="l"/>
            <a:r>
              <a:rPr sz="1400" b="0" i="0">
                <a:solidFill>
                  <a:srgbClr val="5C6773"/>
                </a:solidFill>
                <a:latin typeface="Calibri"/>
              </a:rPr>
              <a:t>AP over random baseline
(prevalence), every endpoint</a:t>
            </a:r>
          </a:p>
        </p:txBody>
      </p:sp>
      <p:graphicFrame>
        <p:nvGraphicFramePr>
          <p:cNvPr id="11" name="Chart 10"/>
          <p:cNvGraphicFramePr>
            <a:graphicFrameLocks noGrp="1"/>
          </p:cNvGraphicFramePr>
          <p:nvPr/>
        </p:nvGraphicFramePr>
        <p:xfrm>
          <a:off x="4114800" y="1325880"/>
          <a:ext cx="7498079" cy="4937760"/>
        </p:xfrm>
        <a:graphic>
          <a:graphicData uri="http://schemas.openxmlformats.org/drawingml/2006/chart">
            <c:chart xmlns:c="http://schemas.openxmlformats.org/drawingml/2006/chart" r:id="rId3"/>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Reproducibility check</a:t>
            </a:r>
          </a:p>
        </p:txBody>
      </p:sp>
      <p:sp>
        <p:nvSpPr>
          <p:cNvPr id="3" name="TextBox 2"/>
          <p:cNvSpPr txBox="1"/>
          <p:nvPr/>
        </p:nvSpPr>
        <p:spPr>
          <a:xfrm>
            <a:off x="548640" y="6355080"/>
            <a:ext cx="9601200" cy="320040"/>
          </a:xfrm>
          <a:prstGeom prst="rect">
            <a:avLst/>
          </a:prstGeom>
          <a:noFill/>
        </p:spPr>
        <p:txBody>
          <a:bodyPr wrap="square" anchor="t" lIns="45720" rIns="45720">
            <a:spAutoFit/>
          </a:bodyPr>
          <a:lstStyle/>
          <a:p>
            <a:pPr algn="l"/>
            <a:r>
              <a:rPr sz="1000" b="0" i="0">
                <a:solidFill>
                  <a:srgbClr val="5C6773"/>
                </a:solidFill>
                <a:latin typeface="Calibri"/>
              </a:rPr>
              <a:t>reports/experiment_tracking_audit.md §3</a:t>
            </a:r>
          </a:p>
        </p:txBody>
      </p:sp>
      <p:sp>
        <p:nvSpPr>
          <p:cNvPr id="4" name="TextBox 3"/>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14</a:t>
            </a:r>
          </a:p>
        </p:txBody>
      </p:sp>
      <p:graphicFrame>
        <p:nvGraphicFramePr>
          <p:cNvPr id="5" name="Table 4"/>
          <p:cNvGraphicFramePr>
            <a:graphicFrameLocks noGrp="1"/>
          </p:cNvGraphicFramePr>
          <p:nvPr/>
        </p:nvGraphicFramePr>
        <p:xfrm>
          <a:off x="548640" y="1463040"/>
          <a:ext cx="11064240" cy="2743200"/>
        </p:xfrm>
        <a:graphic>
          <a:graphicData uri="http://schemas.openxmlformats.org/drawingml/2006/table">
            <a:tbl>
              <a:tblPr firstRow="1" bandRow="1">
                <a:tableStyleId>{5C22544A-7EE6-4342-B048-85BDC9FD1C3A}</a:tableStyleId>
              </a:tblPr>
              <a:tblGrid>
                <a:gridCol w="3291840"/>
                <a:gridCol w="2743200"/>
                <a:gridCol w="2377440"/>
                <a:gridCol w="2651760"/>
              </a:tblGrid>
              <a:tr h="548640">
                <a:tc>
                  <a:txBody>
                    <a:bodyPr wrap="square"/>
                    <a:lstStyle/>
                    <a:p>
                      <a:pPr algn="l"/>
                      <a:r>
                        <a:rPr sz="1500" b="1">
                          <a:solidFill>
                            <a:srgbClr val="FFFFFF"/>
                          </a:solidFill>
                          <a:latin typeface="Calibri"/>
                        </a:rPr>
                        <a:t>Configuration</a:t>
                      </a:r>
                    </a:p>
                  </a:txBody>
                  <a:tcPr marL="73152" marR="73152" marT="27432" marB="27432" anchor="ctr">
                    <a:solidFill>
                      <a:srgbClr val="1B2A41"/>
                    </a:solidFill>
                  </a:tcPr>
                </a:tc>
                <a:tc>
                  <a:txBody>
                    <a:bodyPr wrap="square"/>
                    <a:lstStyle/>
                    <a:p>
                      <a:pPr algn="ctr"/>
                      <a:r>
                        <a:rPr sz="1500" b="1">
                          <a:solidFill>
                            <a:srgbClr val="FFFFFF"/>
                          </a:solidFill>
                          <a:latin typeface="Calibri"/>
                        </a:rPr>
                        <a:t>Committed ROC-AUC</a:t>
                      </a:r>
                    </a:p>
                  </a:txBody>
                  <a:tcPr marL="73152" marR="73152" marT="27432" marB="27432" anchor="ctr">
                    <a:solidFill>
                      <a:srgbClr val="1B2A41"/>
                    </a:solidFill>
                  </a:tcPr>
                </a:tc>
                <a:tc>
                  <a:txBody>
                    <a:bodyPr wrap="square"/>
                    <a:lstStyle/>
                    <a:p>
                      <a:pPr algn="ctr"/>
                      <a:r>
                        <a:rPr sz="1500" b="1">
                          <a:solidFill>
                            <a:srgbClr val="FFFFFF"/>
                          </a:solidFill>
                          <a:latin typeface="Calibri"/>
                        </a:rPr>
                        <a:t>Re-run ROC-AUC</a:t>
                      </a:r>
                    </a:p>
                  </a:txBody>
                  <a:tcPr marL="73152" marR="73152" marT="27432" marB="27432" anchor="ctr">
                    <a:solidFill>
                      <a:srgbClr val="1B2A41"/>
                    </a:solidFill>
                  </a:tcPr>
                </a:tc>
                <a:tc>
                  <a:txBody>
                    <a:bodyPr wrap="square"/>
                    <a:lstStyle/>
                    <a:p>
                      <a:pPr algn="ctr"/>
                      <a:r>
                        <a:rPr sz="1500" b="1">
                          <a:solidFill>
                            <a:srgbClr val="FFFFFF"/>
                          </a:solidFill>
                          <a:latin typeface="Calibri"/>
                        </a:rPr>
                        <a:t>Prediction file</a:t>
                      </a:r>
                    </a:p>
                  </a:txBody>
                  <a:tcPr marL="73152" marR="73152" marT="27432" marB="27432" anchor="ctr">
                    <a:solidFill>
                      <a:srgbClr val="1B2A41"/>
                    </a:solidFill>
                  </a:tcPr>
                </a:tc>
              </a:tr>
              <a:tr h="548640">
                <a:tc>
                  <a:txBody>
                    <a:bodyPr wrap="square"/>
                    <a:lstStyle/>
                    <a:p>
                      <a:pPr algn="l"/>
                      <a:r>
                        <a:rPr sz="1500" b="0">
                          <a:solidFill>
                            <a:srgbClr val="222B36"/>
                          </a:solidFill>
                          <a:latin typeface="Calibri"/>
                        </a:rPr>
                        <a:t>XGBoost (all 3 representations)</a:t>
                      </a:r>
                    </a:p>
                  </a:txBody>
                  <a:tcPr marL="73152" marR="73152" marT="27432" marB="27432" anchor="ctr">
                    <a:solidFill>
                      <a:srgbClr val="FFFFFF"/>
                    </a:solidFill>
                  </a:tcPr>
                </a:tc>
                <a:tc>
                  <a:txBody>
                    <a:bodyPr wrap="square"/>
                    <a:lstStyle/>
                    <a:p>
                      <a:pPr algn="ctr"/>
                      <a:r>
                        <a:rPr sz="1500" b="0">
                          <a:solidFill>
                            <a:srgbClr val="222B36"/>
                          </a:solidFill>
                          <a:latin typeface="Calibri"/>
                        </a:rPr>
                        <a:t>0.7114 / 0.7024 / 0.7456</a:t>
                      </a:r>
                    </a:p>
                  </a:txBody>
                  <a:tcPr marL="73152" marR="73152" marT="27432" marB="27432" anchor="ctr">
                    <a:solidFill>
                      <a:srgbClr val="FFFFFF"/>
                    </a:solidFill>
                  </a:tcPr>
                </a:tc>
                <a:tc>
                  <a:txBody>
                    <a:bodyPr wrap="square"/>
                    <a:lstStyle/>
                    <a:p>
                      <a:pPr algn="ctr"/>
                      <a:r>
                        <a:rPr sz="1500" b="0">
                          <a:solidFill>
                            <a:srgbClr val="222B36"/>
                          </a:solidFill>
                          <a:latin typeface="Calibri"/>
                        </a:rPr>
                        <a:t>identical</a:t>
                      </a:r>
                    </a:p>
                  </a:txBody>
                  <a:tcPr marL="73152" marR="73152" marT="27432" marB="27432" anchor="ctr">
                    <a:solidFill>
                      <a:srgbClr val="FFFFFF"/>
                    </a:solidFill>
                  </a:tcPr>
                </a:tc>
                <a:tc>
                  <a:txBody>
                    <a:bodyPr wrap="square"/>
                    <a:lstStyle/>
                    <a:p>
                      <a:pPr algn="ctr"/>
                      <a:r>
                        <a:rPr sz="1500" b="0">
                          <a:solidFill>
                            <a:srgbClr val="222B36"/>
                          </a:solidFill>
                          <a:latin typeface="Calibri"/>
                        </a:rPr>
                        <a:t>byte-identical</a:t>
                      </a:r>
                    </a:p>
                  </a:txBody>
                  <a:tcPr marL="73152" marR="73152" marT="27432" marB="27432" anchor="ctr">
                    <a:solidFill>
                      <a:srgbClr val="FFFFFF"/>
                    </a:solidFill>
                  </a:tcPr>
                </a:tc>
              </a:tr>
              <a:tr h="548640">
                <a:tc>
                  <a:txBody>
                    <a:bodyPr wrap="square"/>
                    <a:lstStyle/>
                    <a:p>
                      <a:pPr algn="l"/>
                      <a:r>
                        <a:rPr sz="1500" b="0">
                          <a:solidFill>
                            <a:srgbClr val="222B36"/>
                          </a:solidFill>
                          <a:latin typeface="Calibri"/>
                        </a:rPr>
                        <a:t>LR + descriptors</a:t>
                      </a:r>
                    </a:p>
                  </a:txBody>
                  <a:tcPr marL="73152" marR="73152" marT="27432" marB="27432" anchor="ctr">
                    <a:solidFill>
                      <a:srgbClr val="F1F4F8"/>
                    </a:solidFill>
                  </a:tcPr>
                </a:tc>
                <a:tc>
                  <a:txBody>
                    <a:bodyPr wrap="square"/>
                    <a:lstStyle/>
                    <a:p>
                      <a:pPr algn="ctr"/>
                      <a:r>
                        <a:rPr sz="1500" b="0">
                          <a:solidFill>
                            <a:srgbClr val="222B36"/>
                          </a:solidFill>
                          <a:latin typeface="Calibri"/>
                        </a:rPr>
                        <a:t>0.7203</a:t>
                      </a:r>
                    </a:p>
                  </a:txBody>
                  <a:tcPr marL="73152" marR="73152" marT="27432" marB="27432" anchor="ctr">
                    <a:solidFill>
                      <a:srgbClr val="F1F4F8"/>
                    </a:solidFill>
                  </a:tcPr>
                </a:tc>
                <a:tc>
                  <a:txBody>
                    <a:bodyPr wrap="square"/>
                    <a:lstStyle/>
                    <a:p>
                      <a:pPr algn="ctr"/>
                      <a:r>
                        <a:rPr sz="1500" b="0">
                          <a:solidFill>
                            <a:srgbClr val="222B36"/>
                          </a:solidFill>
                          <a:latin typeface="Calibri"/>
                        </a:rPr>
                        <a:t>0.7203</a:t>
                      </a:r>
                    </a:p>
                  </a:txBody>
                  <a:tcPr marL="73152" marR="73152" marT="27432" marB="27432" anchor="ctr">
                    <a:solidFill>
                      <a:srgbClr val="F1F4F8"/>
                    </a:solidFill>
                  </a:tcPr>
                </a:tc>
                <a:tc>
                  <a:txBody>
                    <a:bodyPr wrap="square"/>
                    <a:lstStyle/>
                    <a:p>
                      <a:pPr algn="ctr"/>
                      <a:r>
                        <a:rPr sz="1500" b="0">
                          <a:solidFill>
                            <a:srgbClr val="222B36"/>
                          </a:solidFill>
                          <a:latin typeface="Calibri"/>
                        </a:rPr>
                        <a:t>byte-identical</a:t>
                      </a:r>
                    </a:p>
                  </a:txBody>
                  <a:tcPr marL="73152" marR="73152" marT="27432" marB="27432" anchor="ctr">
                    <a:solidFill>
                      <a:srgbClr val="F1F4F8"/>
                    </a:solidFill>
                  </a:tcPr>
                </a:tc>
              </a:tr>
              <a:tr h="548640">
                <a:tc>
                  <a:txBody>
                    <a:bodyPr wrap="square"/>
                    <a:lstStyle/>
                    <a:p>
                      <a:pPr algn="l"/>
                      <a:r>
                        <a:rPr sz="1500" b="0">
                          <a:solidFill>
                            <a:srgbClr val="222B36"/>
                          </a:solidFill>
                          <a:latin typeface="Calibri"/>
                        </a:rPr>
                        <a:t>LR + Morgan / combined</a:t>
                      </a:r>
                    </a:p>
                  </a:txBody>
                  <a:tcPr marL="73152" marR="73152" marT="27432" marB="27432" anchor="ctr">
                    <a:solidFill>
                      <a:srgbClr val="FFFFFF"/>
                    </a:solidFill>
                  </a:tcPr>
                </a:tc>
                <a:tc>
                  <a:txBody>
                    <a:bodyPr wrap="square"/>
                    <a:lstStyle/>
                    <a:p>
                      <a:pPr algn="ctr"/>
                      <a:r>
                        <a:rPr sz="1500" b="0">
                          <a:solidFill>
                            <a:srgbClr val="222B36"/>
                          </a:solidFill>
                          <a:latin typeface="Calibri"/>
                        </a:rPr>
                        <a:t>0.6987 / 0.7138</a:t>
                      </a:r>
                    </a:p>
                  </a:txBody>
                  <a:tcPr marL="73152" marR="73152" marT="27432" marB="27432" anchor="ctr">
                    <a:solidFill>
                      <a:srgbClr val="FFFFFF"/>
                    </a:solidFill>
                  </a:tcPr>
                </a:tc>
                <a:tc>
                  <a:txBody>
                    <a:bodyPr wrap="square"/>
                    <a:lstStyle/>
                    <a:p>
                      <a:pPr algn="ctr"/>
                      <a:r>
                        <a:rPr sz="1500" b="0">
                          <a:solidFill>
                            <a:srgbClr val="222B36"/>
                          </a:solidFill>
                          <a:latin typeface="Calibri"/>
                        </a:rPr>
                        <a:t>0.6989 / 0.7139</a:t>
                      </a:r>
                    </a:p>
                  </a:txBody>
                  <a:tcPr marL="73152" marR="73152" marT="27432" marB="27432" anchor="ctr">
                    <a:solidFill>
                      <a:srgbClr val="FFFFFF"/>
                    </a:solidFill>
                  </a:tcPr>
                </a:tc>
                <a:tc>
                  <a:txBody>
                    <a:bodyPr wrap="square"/>
                    <a:lstStyle/>
                    <a:p>
                      <a:pPr algn="ctr"/>
                      <a:r>
                        <a:rPr sz="1500" b="0">
                          <a:solidFill>
                            <a:srgbClr val="222B36"/>
                          </a:solidFill>
                          <a:latin typeface="Calibri"/>
                        </a:rPr>
                        <a:t>differs (≤ 0.0002)</a:t>
                      </a:r>
                    </a:p>
                  </a:txBody>
                  <a:tcPr marL="73152" marR="73152" marT="27432" marB="27432" anchor="ctr">
                    <a:solidFill>
                      <a:srgbClr val="FFFFFF"/>
                    </a:solidFill>
                  </a:tcPr>
                </a:tc>
              </a:tr>
              <a:tr h="548640">
                <a:tc>
                  <a:txBody>
                    <a:bodyPr wrap="square"/>
                    <a:lstStyle/>
                    <a:p>
                      <a:pPr algn="l"/>
                      <a:r>
                        <a:rPr sz="1500" b="1">
                          <a:solidFill>
                            <a:srgbClr val="222B36"/>
                          </a:solidFill>
                          <a:latin typeface="Calibri"/>
                        </a:rPr>
                        <a:t>RF + combined</a:t>
                      </a:r>
                    </a:p>
                  </a:txBody>
                  <a:tcPr marL="73152" marR="73152" marT="27432" marB="27432" anchor="ctr">
                    <a:solidFill>
                      <a:srgbClr val="F1F4F8"/>
                    </a:solidFill>
                  </a:tcPr>
                </a:tc>
                <a:tc>
                  <a:txBody>
                    <a:bodyPr wrap="square"/>
                    <a:lstStyle/>
                    <a:p>
                      <a:pPr algn="ctr"/>
                      <a:r>
                        <a:rPr sz="1500" b="1">
                          <a:solidFill>
                            <a:srgbClr val="222B36"/>
                          </a:solidFill>
                          <a:latin typeface="Calibri"/>
                        </a:rPr>
                        <a:t>0.7488</a:t>
                      </a:r>
                    </a:p>
                  </a:txBody>
                  <a:tcPr marL="73152" marR="73152" marT="27432" marB="27432" anchor="ctr">
                    <a:solidFill>
                      <a:srgbClr val="F1F4F8"/>
                    </a:solidFill>
                  </a:tcPr>
                </a:tc>
                <a:tc>
                  <a:txBody>
                    <a:bodyPr wrap="square"/>
                    <a:lstStyle/>
                    <a:p>
                      <a:pPr algn="ctr"/>
                      <a:r>
                        <a:rPr sz="1500" b="1">
                          <a:solidFill>
                            <a:srgbClr val="222B36"/>
                          </a:solidFill>
                          <a:latin typeface="Calibri"/>
                        </a:rPr>
                        <a:t>0.7625</a:t>
                      </a:r>
                    </a:p>
                  </a:txBody>
                  <a:tcPr marL="73152" marR="73152" marT="27432" marB="27432" anchor="ctr">
                    <a:solidFill>
                      <a:srgbClr val="F1F4F8"/>
                    </a:solidFill>
                  </a:tcPr>
                </a:tc>
                <a:tc>
                  <a:txBody>
                    <a:bodyPr wrap="square"/>
                    <a:lstStyle/>
                    <a:p>
                      <a:pPr algn="ctr"/>
                      <a:r>
                        <a:rPr sz="1500" b="1">
                          <a:solidFill>
                            <a:srgbClr val="222B36"/>
                          </a:solidFill>
                          <a:latin typeface="Calibri"/>
                        </a:rPr>
                        <a:t>differs</a:t>
                      </a:r>
                    </a:p>
                  </a:txBody>
                  <a:tcPr marL="73152" marR="73152" marT="27432" marB="27432" anchor="ctr">
                    <a:solidFill>
                      <a:srgbClr val="F1F4F8"/>
                    </a:solidFill>
                  </a:tcPr>
                </a:tc>
              </a:tr>
            </a:tbl>
          </a:graphicData>
        </a:graphic>
      </p:graphicFrame>
      <p:sp>
        <p:nvSpPr>
          <p:cNvPr id="6" name="Rounded Rectangle 5"/>
          <p:cNvSpPr/>
          <p:nvPr/>
        </p:nvSpPr>
        <p:spPr>
          <a:xfrm>
            <a:off x="548640" y="4434840"/>
            <a:ext cx="3474720" cy="16002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4526280"/>
            <a:ext cx="3017520" cy="640080"/>
          </a:xfrm>
          <a:prstGeom prst="rect">
            <a:avLst/>
          </a:prstGeom>
          <a:noFill/>
        </p:spPr>
        <p:txBody>
          <a:bodyPr wrap="square" anchor="t" lIns="45720" rIns="45720">
            <a:spAutoFit/>
          </a:bodyPr>
          <a:lstStyle/>
          <a:p>
            <a:pPr algn="l"/>
            <a:r>
              <a:rPr sz="2600" b="1" i="0">
                <a:solidFill>
                  <a:srgbClr val="009E73"/>
                </a:solidFill>
                <a:latin typeface="Cambria"/>
              </a:rPr>
              <a:t>122 / 122</a:t>
            </a:r>
          </a:p>
        </p:txBody>
      </p:sp>
      <p:sp>
        <p:nvSpPr>
          <p:cNvPr id="8" name="TextBox 7"/>
          <p:cNvSpPr txBox="1"/>
          <p:nvPr/>
        </p:nvSpPr>
        <p:spPr>
          <a:xfrm>
            <a:off x="822959" y="5166360"/>
            <a:ext cx="3017520" cy="731520"/>
          </a:xfrm>
          <a:prstGeom prst="rect">
            <a:avLst/>
          </a:prstGeom>
          <a:noFill/>
        </p:spPr>
        <p:txBody>
          <a:bodyPr wrap="square" anchor="t" lIns="45720" rIns="45720">
            <a:spAutoFit/>
          </a:bodyPr>
          <a:lstStyle/>
          <a:p>
            <a:pPr algn="l"/>
            <a:r>
              <a:rPr sz="1500" b="0" i="0">
                <a:solidFill>
                  <a:srgbClr val="222B36"/>
                </a:solidFill>
                <a:latin typeface="Calibri"/>
              </a:rPr>
              <a:t>tests pass after full regeneration</a:t>
            </a:r>
          </a:p>
        </p:txBody>
      </p:sp>
      <p:sp>
        <p:nvSpPr>
          <p:cNvPr id="9" name="Rounded Rectangle 8"/>
          <p:cNvSpPr/>
          <p:nvPr/>
        </p:nvSpPr>
        <p:spPr>
          <a:xfrm>
            <a:off x="4297679" y="4434840"/>
            <a:ext cx="3474720" cy="16002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1999" y="4526280"/>
            <a:ext cx="3017520" cy="640080"/>
          </a:xfrm>
          <a:prstGeom prst="rect">
            <a:avLst/>
          </a:prstGeom>
          <a:noFill/>
        </p:spPr>
        <p:txBody>
          <a:bodyPr wrap="square" anchor="t" lIns="45720" rIns="45720">
            <a:spAutoFit/>
          </a:bodyPr>
          <a:lstStyle/>
          <a:p>
            <a:pPr algn="l"/>
            <a:r>
              <a:rPr sz="2600" b="1" i="0">
                <a:solidFill>
                  <a:srgbClr val="0072B2"/>
                </a:solidFill>
                <a:latin typeface="Cambria"/>
              </a:rPr>
              <a:t>Exact</a:t>
            </a:r>
          </a:p>
        </p:txBody>
      </p:sp>
      <p:sp>
        <p:nvSpPr>
          <p:cNvPr id="11" name="TextBox 10"/>
          <p:cNvSpPr txBox="1"/>
          <p:nvPr/>
        </p:nvSpPr>
        <p:spPr>
          <a:xfrm>
            <a:off x="4571999" y="5166360"/>
            <a:ext cx="3017520" cy="731520"/>
          </a:xfrm>
          <a:prstGeom prst="rect">
            <a:avLst/>
          </a:prstGeom>
          <a:noFill/>
        </p:spPr>
        <p:txBody>
          <a:bodyPr wrap="square" anchor="t" lIns="45720" rIns="45720">
            <a:spAutoFit/>
          </a:bodyPr>
          <a:lstStyle/>
          <a:p>
            <a:pPr algn="l"/>
            <a:r>
              <a:rPr sz="1500" b="0" i="0">
                <a:solidFill>
                  <a:srgbClr val="222B36"/>
                </a:solidFill>
                <a:latin typeface="Calibri"/>
              </a:rPr>
              <a:t>metrics recomputed from saved predictions</a:t>
            </a:r>
          </a:p>
        </p:txBody>
      </p:sp>
      <p:sp>
        <p:nvSpPr>
          <p:cNvPr id="12" name="Rounded Rectangle 11"/>
          <p:cNvSpPr/>
          <p:nvPr/>
        </p:nvSpPr>
        <p:spPr>
          <a:xfrm>
            <a:off x="8046719" y="4434840"/>
            <a:ext cx="3474720" cy="16002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4526280"/>
            <a:ext cx="3017520" cy="640080"/>
          </a:xfrm>
          <a:prstGeom prst="rect">
            <a:avLst/>
          </a:prstGeom>
          <a:noFill/>
        </p:spPr>
        <p:txBody>
          <a:bodyPr wrap="square" anchor="t" lIns="45720" rIns="45720">
            <a:spAutoFit/>
          </a:bodyPr>
          <a:lstStyle/>
          <a:p>
            <a:pPr algn="l"/>
            <a:r>
              <a:rPr sz="2600" b="1" i="0">
                <a:solidFill>
                  <a:srgbClr val="D55E00"/>
                </a:solidFill>
                <a:latin typeface="Cambria"/>
              </a:rPr>
              <a:t>Unrecorded</a:t>
            </a:r>
          </a:p>
        </p:txBody>
      </p:sp>
      <p:sp>
        <p:nvSpPr>
          <p:cNvPr id="14" name="TextBox 13"/>
          <p:cNvSpPr txBox="1"/>
          <p:nvPr/>
        </p:nvSpPr>
        <p:spPr>
          <a:xfrm>
            <a:off x="8321040" y="5166360"/>
            <a:ext cx="3017520" cy="731520"/>
          </a:xfrm>
          <a:prstGeom prst="rect">
            <a:avLst/>
          </a:prstGeom>
          <a:noFill/>
        </p:spPr>
        <p:txBody>
          <a:bodyPr wrap="square" anchor="t" lIns="45720" rIns="45720">
            <a:spAutoFit/>
          </a:bodyPr>
          <a:lstStyle/>
          <a:p>
            <a:pPr algn="l"/>
            <a:r>
              <a:rPr sz="1500" b="0" i="0">
                <a:solidFill>
                  <a:srgbClr val="222B36"/>
                </a:solidFill>
                <a:latin typeface="Calibri"/>
              </a:rPr>
              <a:t>scikit-learn version behind committed RF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Limitations and threats to validity</a:t>
            </a:r>
          </a:p>
        </p:txBody>
      </p:sp>
      <p:sp>
        <p:nvSpPr>
          <p:cNvPr id="3" name="TextBox 2"/>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15</a:t>
            </a:r>
          </a:p>
        </p:txBody>
      </p:sp>
      <p:sp>
        <p:nvSpPr>
          <p:cNvPr id="4" name="Rounded Rectangle 3"/>
          <p:cNvSpPr/>
          <p:nvPr/>
        </p:nvSpPr>
        <p:spPr>
          <a:xfrm>
            <a:off x="548640" y="1463040"/>
            <a:ext cx="5440680" cy="13716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600200"/>
            <a:ext cx="4937760" cy="457200"/>
          </a:xfrm>
          <a:prstGeom prst="rect">
            <a:avLst/>
          </a:prstGeom>
          <a:noFill/>
        </p:spPr>
        <p:txBody>
          <a:bodyPr wrap="square" anchor="t" lIns="45720" rIns="45720">
            <a:spAutoFit/>
          </a:bodyPr>
          <a:lstStyle/>
          <a:p>
            <a:pPr algn="l"/>
            <a:r>
              <a:rPr sz="1900" b="1" i="0">
                <a:solidFill>
                  <a:srgbClr val="1B2A41"/>
                </a:solidFill>
                <a:latin typeface="Cambria"/>
              </a:rPr>
              <a:t>Single seed, single split</a:t>
            </a:r>
          </a:p>
        </p:txBody>
      </p:sp>
      <p:sp>
        <p:nvSpPr>
          <p:cNvPr id="6" name="TextBox 5"/>
          <p:cNvSpPr txBox="1"/>
          <p:nvPr/>
        </p:nvSpPr>
        <p:spPr>
          <a:xfrm>
            <a:off x="822959" y="2103120"/>
            <a:ext cx="4937760" cy="640080"/>
          </a:xfrm>
          <a:prstGeom prst="rect">
            <a:avLst/>
          </a:prstGeom>
          <a:noFill/>
        </p:spPr>
        <p:txBody>
          <a:bodyPr wrap="square" anchor="t" lIns="45720" rIns="45720">
            <a:spAutoFit/>
          </a:bodyPr>
          <a:lstStyle/>
          <a:p>
            <a:pPr algn="l"/>
            <a:r>
              <a:rPr sz="1600" b="0" i="0">
                <a:solidFill>
                  <a:srgbClr val="222B36"/>
                </a:solidFill>
                <a:latin typeface="Calibri"/>
              </a:rPr>
              <a:t>no run-to-run variance; no significance tests</a:t>
            </a:r>
          </a:p>
        </p:txBody>
      </p:sp>
      <p:sp>
        <p:nvSpPr>
          <p:cNvPr id="7" name="Rounded Rectangle 6"/>
          <p:cNvSpPr/>
          <p:nvPr/>
        </p:nvSpPr>
        <p:spPr>
          <a:xfrm>
            <a:off x="6172200" y="1463040"/>
            <a:ext cx="5440680" cy="13716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600200"/>
            <a:ext cx="4937760" cy="457200"/>
          </a:xfrm>
          <a:prstGeom prst="rect">
            <a:avLst/>
          </a:prstGeom>
          <a:noFill/>
        </p:spPr>
        <p:txBody>
          <a:bodyPr wrap="square" anchor="t" lIns="45720" rIns="45720">
            <a:spAutoFit/>
          </a:bodyPr>
          <a:lstStyle/>
          <a:p>
            <a:pPr algn="l"/>
            <a:r>
              <a:rPr sz="1900" b="1" i="0">
                <a:solidFill>
                  <a:srgbClr val="1B2A41"/>
                </a:solidFill>
                <a:latin typeface="Cambria"/>
              </a:rPr>
              <a:t>No hyperparameter tuning</a:t>
            </a:r>
          </a:p>
        </p:txBody>
      </p:sp>
      <p:sp>
        <p:nvSpPr>
          <p:cNvPr id="9" name="TextBox 8"/>
          <p:cNvSpPr txBox="1"/>
          <p:nvPr/>
        </p:nvSpPr>
        <p:spPr>
          <a:xfrm>
            <a:off x="6446520" y="2103120"/>
            <a:ext cx="4937760" cy="640080"/>
          </a:xfrm>
          <a:prstGeom prst="rect">
            <a:avLst/>
          </a:prstGeom>
          <a:noFill/>
        </p:spPr>
        <p:txBody>
          <a:bodyPr wrap="square" anchor="t" lIns="45720" rIns="45720">
            <a:spAutoFit/>
          </a:bodyPr>
          <a:lstStyle/>
          <a:p>
            <a:pPr algn="l"/>
            <a:r>
              <a:rPr sz="1600" b="0" i="0">
                <a:solidFill>
                  <a:srgbClr val="222B36"/>
                </a:solidFill>
                <a:latin typeface="Calibri"/>
              </a:rPr>
              <a:t>rankings could change with tuning</a:t>
            </a:r>
          </a:p>
        </p:txBody>
      </p:sp>
      <p:sp>
        <p:nvSpPr>
          <p:cNvPr id="10" name="Rounded Rectangle 9"/>
          <p:cNvSpPr/>
          <p:nvPr/>
        </p:nvSpPr>
        <p:spPr>
          <a:xfrm>
            <a:off x="548640" y="3017520"/>
            <a:ext cx="5440680" cy="13716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3154679"/>
            <a:ext cx="4937760" cy="457200"/>
          </a:xfrm>
          <a:prstGeom prst="rect">
            <a:avLst/>
          </a:prstGeom>
          <a:noFill/>
        </p:spPr>
        <p:txBody>
          <a:bodyPr wrap="square" anchor="t" lIns="45720" rIns="45720">
            <a:spAutoFit/>
          </a:bodyPr>
          <a:lstStyle/>
          <a:p>
            <a:pPr algn="l"/>
            <a:r>
              <a:rPr sz="1900" b="1" i="0">
                <a:solidFill>
                  <a:srgbClr val="1B2A41"/>
                </a:solidFill>
                <a:latin typeface="Cambria"/>
              </a:rPr>
              <a:t>Version sensitivity</a:t>
            </a:r>
          </a:p>
        </p:txBody>
      </p:sp>
      <p:sp>
        <p:nvSpPr>
          <p:cNvPr id="12" name="TextBox 11"/>
          <p:cNvSpPr txBox="1"/>
          <p:nvPr/>
        </p:nvSpPr>
        <p:spPr>
          <a:xfrm>
            <a:off x="822959" y="3657600"/>
            <a:ext cx="4937760" cy="640080"/>
          </a:xfrm>
          <a:prstGeom prst="rect">
            <a:avLst/>
          </a:prstGeom>
          <a:noFill/>
        </p:spPr>
        <p:txBody>
          <a:bodyPr wrap="square" anchor="t" lIns="45720" rIns="45720">
            <a:spAutoFit/>
          </a:bodyPr>
          <a:lstStyle/>
          <a:p>
            <a:pPr algn="l"/>
            <a:r>
              <a:rPr sz="1600" b="0" i="0">
                <a:solidFill>
                  <a:srgbClr val="222B36"/>
                </a:solidFill>
                <a:latin typeface="Calibri"/>
              </a:rPr>
              <a:t>committed RF/LR not bit-reproducible</a:t>
            </a:r>
          </a:p>
        </p:txBody>
      </p:sp>
      <p:sp>
        <p:nvSpPr>
          <p:cNvPr id="13" name="Rounded Rectangle 12"/>
          <p:cNvSpPr/>
          <p:nvPr/>
        </p:nvSpPr>
        <p:spPr>
          <a:xfrm>
            <a:off x="6172200" y="3017520"/>
            <a:ext cx="5440680" cy="13716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154679"/>
            <a:ext cx="4937760" cy="457200"/>
          </a:xfrm>
          <a:prstGeom prst="rect">
            <a:avLst/>
          </a:prstGeom>
          <a:noFill/>
        </p:spPr>
        <p:txBody>
          <a:bodyPr wrap="square" anchor="t" lIns="45720" rIns="45720">
            <a:spAutoFit/>
          </a:bodyPr>
          <a:lstStyle/>
          <a:p>
            <a:pPr algn="l"/>
            <a:r>
              <a:rPr sz="1900" b="1" i="0">
                <a:solidFill>
                  <a:srgbClr val="1B2A41"/>
                </a:solidFill>
                <a:latin typeface="Cambria"/>
              </a:rPr>
              <a:t>Split composition</a:t>
            </a:r>
          </a:p>
        </p:txBody>
      </p:sp>
      <p:sp>
        <p:nvSpPr>
          <p:cNvPr id="15" name="TextBox 14"/>
          <p:cNvSpPr txBox="1"/>
          <p:nvPr/>
        </p:nvSpPr>
        <p:spPr>
          <a:xfrm>
            <a:off x="6446520" y="3657600"/>
            <a:ext cx="4937760" cy="640080"/>
          </a:xfrm>
          <a:prstGeom prst="rect">
            <a:avLst/>
          </a:prstGeom>
          <a:noFill/>
        </p:spPr>
        <p:txBody>
          <a:bodyPr wrap="square" anchor="t" lIns="45720" rIns="45720">
            <a:spAutoFit/>
          </a:bodyPr>
          <a:lstStyle/>
          <a:p>
            <a:pPr algn="l"/>
            <a:r>
              <a:rPr sz="1600" b="0" i="0">
                <a:solidFill>
                  <a:srgbClr val="222B36"/>
                </a:solidFill>
                <a:latin typeface="Calibri"/>
              </a:rPr>
              <a:t>singleton test scaffolds; some endpoints &lt; 30 actives</a:t>
            </a:r>
          </a:p>
        </p:txBody>
      </p:sp>
      <p:sp>
        <p:nvSpPr>
          <p:cNvPr id="16" name="Rounded Rectangle 15"/>
          <p:cNvSpPr/>
          <p:nvPr/>
        </p:nvSpPr>
        <p:spPr>
          <a:xfrm>
            <a:off x="548640" y="4572000"/>
            <a:ext cx="5440680" cy="13716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709160"/>
            <a:ext cx="4937760" cy="457200"/>
          </a:xfrm>
          <a:prstGeom prst="rect">
            <a:avLst/>
          </a:prstGeom>
          <a:noFill/>
        </p:spPr>
        <p:txBody>
          <a:bodyPr wrap="square" anchor="t" lIns="45720" rIns="45720">
            <a:spAutoFit/>
          </a:bodyPr>
          <a:lstStyle/>
          <a:p>
            <a:pPr algn="l"/>
            <a:r>
              <a:rPr sz="1900" b="1" i="0">
                <a:solidFill>
                  <a:srgbClr val="1B2A41"/>
                </a:solidFill>
                <a:latin typeface="Cambria"/>
              </a:rPr>
              <a:t>Data</a:t>
            </a:r>
          </a:p>
        </p:txBody>
      </p:sp>
      <p:sp>
        <p:nvSpPr>
          <p:cNvPr id="18" name="TextBox 17"/>
          <p:cNvSpPr txBox="1"/>
          <p:nvPr/>
        </p:nvSpPr>
        <p:spPr>
          <a:xfrm>
            <a:off x="822959" y="5212080"/>
            <a:ext cx="4937760" cy="640080"/>
          </a:xfrm>
          <a:prstGeom prst="rect">
            <a:avLst/>
          </a:prstGeom>
          <a:noFill/>
        </p:spPr>
        <p:txBody>
          <a:bodyPr wrap="square" anchor="t" lIns="45720" rIns="45720">
            <a:spAutoFit/>
          </a:bodyPr>
          <a:lstStyle/>
          <a:p>
            <a:pPr algn="l"/>
            <a:r>
              <a:rPr sz="1600" b="0" i="0">
                <a:solidFill>
                  <a:srgbClr val="222B36"/>
                </a:solidFill>
                <a:latin typeface="Calibri"/>
              </a:rPr>
              <a:t>noisy, incomplete assays; 8 exclusions; no external set</a:t>
            </a:r>
          </a:p>
        </p:txBody>
      </p:sp>
      <p:sp>
        <p:nvSpPr>
          <p:cNvPr id="19" name="Rounded Rectangle 18"/>
          <p:cNvSpPr/>
          <p:nvPr/>
        </p:nvSpPr>
        <p:spPr>
          <a:xfrm>
            <a:off x="6172200" y="4572000"/>
            <a:ext cx="5440680" cy="1371600"/>
          </a:xfrm>
          <a:prstGeom prst="roundRect">
            <a:avLst>
              <a:gd name="adj" fmla="val 8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4709160"/>
            <a:ext cx="4937760" cy="457200"/>
          </a:xfrm>
          <a:prstGeom prst="rect">
            <a:avLst/>
          </a:prstGeom>
          <a:noFill/>
        </p:spPr>
        <p:txBody>
          <a:bodyPr wrap="square" anchor="t" lIns="45720" rIns="45720">
            <a:spAutoFit/>
          </a:bodyPr>
          <a:lstStyle/>
          <a:p>
            <a:pPr algn="l"/>
            <a:r>
              <a:rPr sz="1900" b="1" i="0">
                <a:solidFill>
                  <a:srgbClr val="1B2A41"/>
                </a:solidFill>
                <a:latin typeface="Cambria"/>
              </a:rPr>
              <a:t>Representations</a:t>
            </a:r>
          </a:p>
        </p:txBody>
      </p:sp>
      <p:sp>
        <p:nvSpPr>
          <p:cNvPr id="21" name="TextBox 20"/>
          <p:cNvSpPr txBox="1"/>
          <p:nvPr/>
        </p:nvSpPr>
        <p:spPr>
          <a:xfrm>
            <a:off x="6446520" y="5212080"/>
            <a:ext cx="4937760" cy="640080"/>
          </a:xfrm>
          <a:prstGeom prst="rect">
            <a:avLst/>
          </a:prstGeom>
          <a:noFill/>
        </p:spPr>
        <p:txBody>
          <a:bodyPr wrap="square" anchor="t" lIns="45720" rIns="45720">
            <a:spAutoFit/>
          </a:bodyPr>
          <a:lstStyle/>
          <a:p>
            <a:pPr algn="l"/>
            <a:r>
              <a:rPr sz="1600" b="0" i="0">
                <a:solidFill>
                  <a:srgbClr val="222B36"/>
                </a:solidFill>
                <a:latin typeface="Calibri"/>
              </a:rPr>
              <a:t>hash collisions; no stereochemistry; endpoints modelled independently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TextBox 1"/>
          <p:cNvSpPr txBox="1"/>
          <p:nvPr/>
        </p:nvSpPr>
        <p:spPr>
          <a:xfrm>
            <a:off x="731520" y="548640"/>
            <a:ext cx="10698480" cy="822960"/>
          </a:xfrm>
          <a:prstGeom prst="rect">
            <a:avLst/>
          </a:prstGeom>
          <a:noFill/>
        </p:spPr>
        <p:txBody>
          <a:bodyPr wrap="square" anchor="t" lIns="45720" rIns="45720">
            <a:spAutoFit/>
          </a:bodyPr>
          <a:lstStyle/>
          <a:p>
            <a:pPr algn="l"/>
            <a:r>
              <a:rPr sz="3600" b="1" i="0">
                <a:solidFill>
                  <a:srgbClr val="FFFFFF"/>
                </a:solidFill>
                <a:latin typeface="Cambria"/>
              </a:rPr>
              <a:t>Conclusion and future work</a:t>
            </a:r>
          </a:p>
        </p:txBody>
      </p:sp>
      <p:sp>
        <p:nvSpPr>
          <p:cNvPr id="3" name="Oval 2"/>
          <p:cNvSpPr/>
          <p:nvPr/>
        </p:nvSpPr>
        <p:spPr>
          <a:xfrm>
            <a:off x="731520" y="1645920"/>
            <a:ext cx="457200" cy="457200"/>
          </a:xfrm>
          <a:prstGeom prst="ellipse">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1</a:t>
            </a:r>
          </a:p>
        </p:txBody>
      </p:sp>
      <p:sp>
        <p:nvSpPr>
          <p:cNvPr id="4" name="TextBox 3"/>
          <p:cNvSpPr txBox="1"/>
          <p:nvPr/>
        </p:nvSpPr>
        <p:spPr>
          <a:xfrm>
            <a:off x="1371600" y="1600200"/>
            <a:ext cx="10058400" cy="548640"/>
          </a:xfrm>
          <a:prstGeom prst="rect">
            <a:avLst/>
          </a:prstGeom>
          <a:noFill/>
        </p:spPr>
        <p:txBody>
          <a:bodyPr wrap="square" anchor="ctr" lIns="45720" rIns="45720">
            <a:spAutoFit/>
          </a:bodyPr>
          <a:lstStyle/>
          <a:p>
            <a:pPr algn="l"/>
            <a:r>
              <a:rPr sz="1700" b="1" i="0">
                <a:solidFill>
                  <a:srgbClr val="FFFFFF"/>
                </a:solidFill>
                <a:latin typeface="Calibri"/>
              </a:rPr>
              <a:t>Leakage-controlled benchmark:  </a:t>
            </a:r>
            <a:r>
              <a:rPr sz="1700" b="0" i="0">
                <a:solidFill>
                  <a:srgbClr val="CAD5E2"/>
                </a:solidFill>
                <a:latin typeface="Calibri"/>
              </a:rPr>
              <a:t>verified data, zero-overlap split, validation-only thresholds</a:t>
            </a:r>
          </a:p>
        </p:txBody>
      </p:sp>
      <p:sp>
        <p:nvSpPr>
          <p:cNvPr id="5" name="Oval 4"/>
          <p:cNvSpPr/>
          <p:nvPr/>
        </p:nvSpPr>
        <p:spPr>
          <a:xfrm>
            <a:off x="731520" y="2514600"/>
            <a:ext cx="457200" cy="457200"/>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2</a:t>
            </a:r>
          </a:p>
        </p:txBody>
      </p:sp>
      <p:sp>
        <p:nvSpPr>
          <p:cNvPr id="6" name="TextBox 5"/>
          <p:cNvSpPr txBox="1"/>
          <p:nvPr/>
        </p:nvSpPr>
        <p:spPr>
          <a:xfrm>
            <a:off x="1371600" y="2468880"/>
            <a:ext cx="10058400" cy="548640"/>
          </a:xfrm>
          <a:prstGeom prst="rect">
            <a:avLst/>
          </a:prstGeom>
          <a:noFill/>
        </p:spPr>
        <p:txBody>
          <a:bodyPr wrap="square" anchor="ctr" lIns="45720" rIns="45720">
            <a:spAutoFit/>
          </a:bodyPr>
          <a:lstStyle/>
          <a:p>
            <a:pPr algn="l"/>
            <a:r>
              <a:rPr sz="1700" b="1" i="0">
                <a:solidFill>
                  <a:srgbClr val="FFFFFF"/>
                </a:solidFill>
                <a:latin typeface="Calibri"/>
              </a:rPr>
              <a:t>Best of nine: RF + combined:  </a:t>
            </a:r>
            <a:r>
              <a:rPr sz="1700" b="0" i="0">
                <a:solidFill>
                  <a:srgbClr val="CAD5E2"/>
                </a:solidFill>
                <a:latin typeface="Calibri"/>
              </a:rPr>
              <a:t>ROC-AUC 0.7488, AP 0.3891 (single run)</a:t>
            </a:r>
          </a:p>
        </p:txBody>
      </p:sp>
      <p:sp>
        <p:nvSpPr>
          <p:cNvPr id="7" name="Oval 6"/>
          <p:cNvSpPr/>
          <p:nvPr/>
        </p:nvSpPr>
        <p:spPr>
          <a:xfrm>
            <a:off x="731520" y="3383279"/>
            <a:ext cx="457200" cy="45720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3</a:t>
            </a:r>
          </a:p>
        </p:txBody>
      </p:sp>
      <p:sp>
        <p:nvSpPr>
          <p:cNvPr id="8" name="TextBox 7"/>
          <p:cNvSpPr txBox="1"/>
          <p:nvPr/>
        </p:nvSpPr>
        <p:spPr>
          <a:xfrm>
            <a:off x="1371600" y="3337560"/>
            <a:ext cx="10058400" cy="548640"/>
          </a:xfrm>
          <a:prstGeom prst="rect">
            <a:avLst/>
          </a:prstGeom>
          <a:noFill/>
        </p:spPr>
        <p:txBody>
          <a:bodyPr wrap="square" anchor="ctr" lIns="45720" rIns="45720">
            <a:spAutoFit/>
          </a:bodyPr>
          <a:lstStyle/>
          <a:p>
            <a:pPr algn="l"/>
            <a:r>
              <a:rPr sz="1700" b="1" i="0">
                <a:solidFill>
                  <a:srgbClr val="FFFFFF"/>
                </a:solidFill>
                <a:latin typeface="Calibri"/>
              </a:rPr>
              <a:t>Robust finding:  </a:t>
            </a:r>
            <a:r>
              <a:rPr sz="1700" b="0" i="0">
                <a:solidFill>
                  <a:srgbClr val="CAD5E2"/>
                </a:solidFill>
                <a:latin typeface="Calibri"/>
              </a:rPr>
              <a:t>combining fingerprints and descriptors helps tree ensembles on 10–11 of 12 endpoints</a:t>
            </a:r>
          </a:p>
        </p:txBody>
      </p:sp>
      <p:sp>
        <p:nvSpPr>
          <p:cNvPr id="9" name="Oval 8"/>
          <p:cNvSpPr/>
          <p:nvPr/>
        </p:nvSpPr>
        <p:spPr>
          <a:xfrm>
            <a:off x="731520" y="4251959"/>
            <a:ext cx="457200" cy="457200"/>
          </a:xfrm>
          <a:prstGeom prst="ellipse">
            <a:avLst/>
          </a:prstGeom>
          <a:solidFill>
            <a:srgbClr val="D55E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mbria"/>
              </a:rPr>
              <a:t>4</a:t>
            </a:r>
          </a:p>
        </p:txBody>
      </p:sp>
      <p:sp>
        <p:nvSpPr>
          <p:cNvPr id="10" name="TextBox 9"/>
          <p:cNvSpPr txBox="1"/>
          <p:nvPr/>
        </p:nvSpPr>
        <p:spPr>
          <a:xfrm>
            <a:off x="1371600" y="4206240"/>
            <a:ext cx="10058400" cy="548640"/>
          </a:xfrm>
          <a:prstGeom prst="rect">
            <a:avLst/>
          </a:prstGeom>
          <a:noFill/>
        </p:spPr>
        <p:txBody>
          <a:bodyPr wrap="square" anchor="ctr" lIns="45720" rIns="45720">
            <a:spAutoFit/>
          </a:bodyPr>
          <a:lstStyle/>
          <a:p>
            <a:pPr algn="l"/>
            <a:r>
              <a:rPr sz="1700" b="1" i="0">
                <a:solidFill>
                  <a:srgbClr val="FFFFFF"/>
                </a:solidFill>
                <a:latin typeface="Calibri"/>
              </a:rPr>
              <a:t>Not robust:  </a:t>
            </a:r>
            <a:r>
              <a:rPr sz="1700" b="0" i="0">
                <a:solidFill>
                  <a:srgbClr val="CAD5E2"/>
                </a:solidFill>
                <a:latin typeface="Calibri"/>
              </a:rPr>
              <a:t>RF vs XGBoost ordering: within SEM and version-sensitive</a:t>
            </a:r>
          </a:p>
        </p:txBody>
      </p:sp>
      <p:sp>
        <p:nvSpPr>
          <p:cNvPr id="11" name="Rounded Rectangle 10"/>
          <p:cNvSpPr/>
          <p:nvPr/>
        </p:nvSpPr>
        <p:spPr>
          <a:xfrm>
            <a:off x="731520" y="5212080"/>
            <a:ext cx="10698480" cy="1005840"/>
          </a:xfrm>
          <a:prstGeom prst="roundRect">
            <a:avLst>
              <a:gd name="adj" fmla="val 8000"/>
            </a:avLst>
          </a:prstGeom>
          <a:solidFill>
            <a:srgbClr val="2C3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257800"/>
            <a:ext cx="10241280" cy="914400"/>
          </a:xfrm>
          <a:prstGeom prst="rect">
            <a:avLst/>
          </a:prstGeom>
          <a:noFill/>
        </p:spPr>
        <p:txBody>
          <a:bodyPr wrap="square" anchor="ctr" lIns="45720" rIns="45720">
            <a:spAutoFit/>
          </a:bodyPr>
          <a:lstStyle/>
          <a:p>
            <a:pPr algn="l"/>
            <a:r>
              <a:rPr sz="1600" b="1" i="0">
                <a:solidFill>
                  <a:srgbClr val="8FD3BE"/>
                </a:solidFill>
                <a:latin typeface="Calibri"/>
              </a:rPr>
              <a:t>Next (Phase 2, not done here):  </a:t>
            </a:r>
            <a:r>
              <a:rPr sz="1600" b="0" i="0">
                <a:solidFill>
                  <a:srgbClr val="FFFFFF"/>
                </a:solidFill>
                <a:latin typeface="Calibri"/>
              </a:rPr>
              <a:t>GCN, GAT, GIN on the same split indices [20–22]; repeated seeds and splits; validation-based tuning; package versions saved with every result.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64240" cy="822960"/>
          </a:xfrm>
        </p:spPr>
        <p:txBody>
          <a:bodyPr wrap="square" anchor="ctr" lIns="0" rIns="0"/>
          <a:lstStyle/>
          <a:p>
            <a:pPr algn="l"/>
            <a:r>
              <a:rPr sz="3400" b="1">
                <a:solidFill>
                  <a:srgbClr val="1B2A41"/>
                </a:solidFill>
                <a:latin typeface="Cambria"/>
              </a:rPr>
              <a:t>Key references</a:t>
            </a:r>
          </a:p>
        </p:txBody>
      </p:sp>
      <p:sp>
        <p:nvSpPr>
          <p:cNvPr id="3" name="TextBox 2"/>
          <p:cNvSpPr txBox="1"/>
          <p:nvPr/>
        </p:nvSpPr>
        <p:spPr>
          <a:xfrm>
            <a:off x="10881360" y="6355080"/>
            <a:ext cx="731520" cy="320040"/>
          </a:xfrm>
          <a:prstGeom prst="rect">
            <a:avLst/>
          </a:prstGeom>
          <a:noFill/>
        </p:spPr>
        <p:txBody>
          <a:bodyPr wrap="square" anchor="t" lIns="45720" rIns="45720">
            <a:spAutoFit/>
          </a:bodyPr>
          <a:lstStyle/>
          <a:p>
            <a:pPr algn="r"/>
            <a:r>
              <a:rPr sz="1000" b="0" i="0">
                <a:solidFill>
                  <a:srgbClr val="5C6773"/>
                </a:solidFill>
                <a:latin typeface="Calibri"/>
              </a:rPr>
              <a:t>17</a:t>
            </a:r>
          </a:p>
        </p:txBody>
      </p:sp>
      <p:sp>
        <p:nvSpPr>
          <p:cNvPr id="4" name="TextBox 3"/>
          <p:cNvSpPr txBox="1"/>
          <p:nvPr/>
        </p:nvSpPr>
        <p:spPr>
          <a:xfrm>
            <a:off x="548640" y="1325880"/>
            <a:ext cx="5486400" cy="4937760"/>
          </a:xfrm>
          <a:prstGeom prst="rect">
            <a:avLst/>
          </a:prstGeom>
          <a:noFill/>
        </p:spPr>
        <p:txBody>
          <a:bodyPr wrap="square" anchor="t" lIns="45720" rIns="45720">
            <a:spAutoFit/>
          </a:bodyPr>
          <a:lstStyle/>
          <a:p>
            <a:pPr algn="l">
              <a:lnSpc>
                <a:spcPct val="115000"/>
              </a:lnSpc>
            </a:pPr>
            <a:r>
              <a:rPr sz="1400" b="0" i="0">
                <a:solidFill>
                  <a:srgbClr val="222B36"/>
                </a:solidFill>
                <a:latin typeface="Calibri"/>
              </a:rPr>
              <a:t>[1] T. Hartung, Nature 460, 208–212, 2009.</a:t>
            </a:r>
          </a:p>
          <a:p>
            <a:pPr algn="l">
              <a:lnSpc>
                <a:spcPct val="115000"/>
              </a:lnSpc>
            </a:pPr>
            <a:r>
              <a:rPr sz="1400" b="0" i="0">
                <a:solidFill>
                  <a:srgbClr val="222B36"/>
                </a:solidFill>
                <a:latin typeface="Calibri"/>
              </a:rPr>
              <a:t>[2] National Research Council, Toxicity Testing in the 21st Century, 2007.</a:t>
            </a:r>
          </a:p>
          <a:p>
            <a:pPr algn="l">
              <a:lnSpc>
                <a:spcPct val="115000"/>
              </a:lnSpc>
            </a:pPr>
            <a:r>
              <a:rPr sz="1400" b="0" i="0">
                <a:solidFill>
                  <a:srgbClr val="222B36"/>
                </a:solidFill>
                <a:latin typeface="Calibri"/>
              </a:rPr>
              <a:t>[3] R. Huang et al., Front. Environ. Sci. 3:85, 2016.</a:t>
            </a:r>
          </a:p>
          <a:p>
            <a:pPr algn="l">
              <a:lnSpc>
                <a:spcPct val="115000"/>
              </a:lnSpc>
            </a:pPr>
            <a:r>
              <a:rPr sz="1400" b="0" i="0">
                <a:solidFill>
                  <a:srgbClr val="222B36"/>
                </a:solidFill>
                <a:latin typeface="Calibri"/>
              </a:rPr>
              <a:t>[4] A. Mayr et al., DeepTox, Front. Environ. Sci. 3:80, 2016.</a:t>
            </a:r>
          </a:p>
          <a:p>
            <a:pPr algn="l">
              <a:lnSpc>
                <a:spcPct val="115000"/>
              </a:lnSpc>
            </a:pPr>
            <a:r>
              <a:rPr sz="1400" b="0" i="0">
                <a:solidFill>
                  <a:srgbClr val="222B36"/>
                </a:solidFill>
                <a:latin typeface="Calibri"/>
              </a:rPr>
              <a:t>[5] Z. Wu et al., MoleculeNet, Chem. Sci. 9, 513–530, 2018.</a:t>
            </a:r>
          </a:p>
          <a:p>
            <a:pPr algn="l">
              <a:lnSpc>
                <a:spcPct val="115000"/>
              </a:lnSpc>
            </a:pPr>
            <a:r>
              <a:rPr sz="1400" b="0" i="0">
                <a:solidFill>
                  <a:srgbClr val="222B36"/>
                </a:solidFill>
                <a:latin typeface="Calibri"/>
              </a:rPr>
              <a:t>[6] V. Svetnik et al., J. Chem. Inf. Comput. Sci. 43, 1947–1958, 2003.</a:t>
            </a:r>
          </a:p>
          <a:p>
            <a:pPr algn="l">
              <a:lnSpc>
                <a:spcPct val="115000"/>
              </a:lnSpc>
            </a:pPr>
            <a:r>
              <a:rPr sz="1400" b="0" i="0">
                <a:solidFill>
                  <a:srgbClr val="222B36"/>
                </a:solidFill>
                <a:latin typeface="Calibri"/>
              </a:rPr>
              <a:t>[7] D. Jiang et al., J. Cheminform. 13:12, 2021.</a:t>
            </a:r>
          </a:p>
          <a:p>
            <a:pPr algn="l">
              <a:lnSpc>
                <a:spcPct val="115000"/>
              </a:lnSpc>
            </a:pPr>
            <a:r>
              <a:rPr sz="1400" b="0" i="0">
                <a:solidFill>
                  <a:srgbClr val="222B36"/>
                </a:solidFill>
                <a:latin typeface="Calibri"/>
              </a:rPr>
              <a:t>[8] R. P. Sheridan, J. Chem. Inf. Model. 53, 783–790, 2013.</a:t>
            </a:r>
          </a:p>
          <a:p>
            <a:pPr algn="l">
              <a:lnSpc>
                <a:spcPct val="115000"/>
              </a:lnSpc>
            </a:pPr>
            <a:r>
              <a:rPr sz="1400" b="0" i="0">
                <a:solidFill>
                  <a:srgbClr val="222B36"/>
                </a:solidFill>
                <a:latin typeface="Calibri"/>
              </a:rPr>
              <a:t>[9] T. Saito, M. Rehmsmeier, PLOS ONE 10, e0118432, 2015.</a:t>
            </a:r>
          </a:p>
          <a:p>
            <a:pPr algn="l">
              <a:lnSpc>
                <a:spcPct val="115000"/>
              </a:lnSpc>
            </a:pPr>
            <a:r>
              <a:rPr sz="1400" b="0" i="0">
                <a:solidFill>
                  <a:srgbClr val="222B36"/>
                </a:solidFill>
                <a:latin typeface="Calibri"/>
              </a:rPr>
              <a:t>[10] D. Rogers, M. Hahn, J. Chem. Inf. Model. 50, 742–754, 2010.</a:t>
            </a:r>
          </a:p>
          <a:p>
            <a:pPr algn="l">
              <a:lnSpc>
                <a:spcPct val="115000"/>
              </a:lnSpc>
            </a:pPr>
            <a:r>
              <a:rPr sz="1400" b="0" i="0">
                <a:solidFill>
                  <a:srgbClr val="222B36"/>
                </a:solidFill>
                <a:latin typeface="Calibri"/>
              </a:rPr>
              <a:t>[11] S. A. Wildman, G. M. Crippen, J. Chem. Inf. Comput. Sci. 39, 868–873, 1999.</a:t>
            </a:r>
          </a:p>
        </p:txBody>
      </p:sp>
      <p:sp>
        <p:nvSpPr>
          <p:cNvPr id="5" name="TextBox 4"/>
          <p:cNvSpPr txBox="1"/>
          <p:nvPr/>
        </p:nvSpPr>
        <p:spPr>
          <a:xfrm>
            <a:off x="6172200" y="1325880"/>
            <a:ext cx="5486400" cy="4937760"/>
          </a:xfrm>
          <a:prstGeom prst="rect">
            <a:avLst/>
          </a:prstGeom>
          <a:noFill/>
        </p:spPr>
        <p:txBody>
          <a:bodyPr wrap="square" anchor="t" lIns="45720" rIns="45720">
            <a:spAutoFit/>
          </a:bodyPr>
          <a:lstStyle/>
          <a:p>
            <a:pPr algn="l">
              <a:lnSpc>
                <a:spcPct val="115000"/>
              </a:lnSpc>
            </a:pPr>
            <a:r>
              <a:rPr sz="1400" b="0" i="0">
                <a:solidFill>
                  <a:srgbClr val="222B36"/>
                </a:solidFill>
                <a:latin typeface="Calibri"/>
              </a:rPr>
              <a:t>[12] P. Ertl et al., J. Med. Chem. 43, 3714–3717, 2000.</a:t>
            </a:r>
          </a:p>
          <a:p>
            <a:pPr algn="l">
              <a:lnSpc>
                <a:spcPct val="115000"/>
              </a:lnSpc>
            </a:pPr>
            <a:r>
              <a:rPr sz="1400" b="0" i="0">
                <a:solidFill>
                  <a:srgbClr val="222B36"/>
                </a:solidFill>
                <a:latin typeface="Calibri"/>
              </a:rPr>
              <a:t>[13] C. A. Lipinski et al., Adv. Drug Deliv. Rev. 23, 3–25, 1997.</a:t>
            </a:r>
          </a:p>
          <a:p>
            <a:pPr algn="l">
              <a:lnSpc>
                <a:spcPct val="115000"/>
              </a:lnSpc>
            </a:pPr>
            <a:r>
              <a:rPr sz="1400" b="0" i="0">
                <a:solidFill>
                  <a:srgbClr val="222B36"/>
                </a:solidFill>
                <a:latin typeface="Calibri"/>
              </a:rPr>
              <a:t>[14] F. Lovering et al., J. Med. Chem. 52, 6752–6756, 2009.</a:t>
            </a:r>
          </a:p>
          <a:p>
            <a:pPr algn="l">
              <a:lnSpc>
                <a:spcPct val="115000"/>
              </a:lnSpc>
            </a:pPr>
            <a:r>
              <a:rPr sz="1400" b="0" i="0">
                <a:solidFill>
                  <a:srgbClr val="222B36"/>
                </a:solidFill>
                <a:latin typeface="Calibri"/>
              </a:rPr>
              <a:t>[15] G. W. Bemis, M. A. Murcko, J. Med. Chem. 39, 2887–2893, 1996.</a:t>
            </a:r>
          </a:p>
          <a:p>
            <a:pPr algn="l">
              <a:lnSpc>
                <a:spcPct val="115000"/>
              </a:lnSpc>
            </a:pPr>
            <a:r>
              <a:rPr sz="1400" b="0" i="0">
                <a:solidFill>
                  <a:srgbClr val="222B36"/>
                </a:solidFill>
                <a:latin typeface="Calibri"/>
              </a:rPr>
              <a:t>[16] L. Breiman, Machine Learning 45, 5–32, 2001.</a:t>
            </a:r>
          </a:p>
          <a:p>
            <a:pPr algn="l">
              <a:lnSpc>
                <a:spcPct val="115000"/>
              </a:lnSpc>
            </a:pPr>
            <a:r>
              <a:rPr sz="1400" b="0" i="0">
                <a:solidFill>
                  <a:srgbClr val="222B36"/>
                </a:solidFill>
                <a:latin typeface="Calibri"/>
              </a:rPr>
              <a:t>[17] T. Chen, C. Guestrin, Proc. ACM SIGKDD, 785–794, 2016.</a:t>
            </a:r>
          </a:p>
          <a:p>
            <a:pPr algn="l">
              <a:lnSpc>
                <a:spcPct val="115000"/>
              </a:lnSpc>
            </a:pPr>
            <a:r>
              <a:rPr sz="1400" b="0" i="0">
                <a:solidFill>
                  <a:srgbClr val="222B36"/>
                </a:solidFill>
                <a:latin typeface="Calibri"/>
              </a:rPr>
              <a:t>[18] F. Pedregosa et al., JMLR 12, 2825–2830, 2011.</a:t>
            </a:r>
          </a:p>
          <a:p>
            <a:pPr algn="l">
              <a:lnSpc>
                <a:spcPct val="115000"/>
              </a:lnSpc>
            </a:pPr>
            <a:r>
              <a:rPr sz="1400" b="0" i="0">
                <a:solidFill>
                  <a:srgbClr val="222B36"/>
                </a:solidFill>
                <a:latin typeface="Calibri"/>
              </a:rPr>
              <a:t>[19] J. Davis, M. Goadrich, Proc. ICML, 233–240, 2006.</a:t>
            </a:r>
          </a:p>
          <a:p>
            <a:pPr algn="l">
              <a:lnSpc>
                <a:spcPct val="115000"/>
              </a:lnSpc>
            </a:pPr>
            <a:r>
              <a:rPr sz="1400" b="0" i="0">
                <a:solidFill>
                  <a:srgbClr val="222B36"/>
                </a:solidFill>
                <a:latin typeface="Calibri"/>
              </a:rPr>
              <a:t>[20] T. N. Kipf, M. Welling, ICLR, 2017.</a:t>
            </a:r>
          </a:p>
          <a:p>
            <a:pPr algn="l">
              <a:lnSpc>
                <a:spcPct val="115000"/>
              </a:lnSpc>
            </a:pPr>
            <a:r>
              <a:rPr sz="1400" b="0" i="0">
                <a:solidFill>
                  <a:srgbClr val="222B36"/>
                </a:solidFill>
                <a:latin typeface="Calibri"/>
              </a:rPr>
              <a:t>[21] P. Veličković et al., ICLR, 2018.</a:t>
            </a:r>
          </a:p>
          <a:p>
            <a:pPr algn="l">
              <a:lnSpc>
                <a:spcPct val="115000"/>
              </a:lnSpc>
            </a:pPr>
            <a:r>
              <a:rPr sz="1400" b="0" i="0">
                <a:solidFill>
                  <a:srgbClr val="222B36"/>
                </a:solidFill>
                <a:latin typeface="Calibri"/>
              </a:rPr>
              <a:t>[22] K. Xu et al., ICLR, 2019.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TextBox 1"/>
          <p:cNvSpPr txBox="1"/>
          <p:nvPr/>
        </p:nvSpPr>
        <p:spPr>
          <a:xfrm>
            <a:off x="731520" y="2377440"/>
            <a:ext cx="10698480" cy="1097280"/>
          </a:xfrm>
          <a:prstGeom prst="rect">
            <a:avLst/>
          </a:prstGeom>
          <a:noFill/>
        </p:spPr>
        <p:txBody>
          <a:bodyPr wrap="square" anchor="t" lIns="45720" rIns="45720">
            <a:spAutoFit/>
          </a:bodyPr>
          <a:lstStyle/>
          <a:p>
            <a:pPr algn="ctr"/>
            <a:r>
              <a:rPr sz="4400" b="1" i="0">
                <a:solidFill>
                  <a:srgbClr val="FFFFFF"/>
                </a:solidFill>
                <a:latin typeface="Cambria"/>
              </a:rPr>
              <a:t>Thank you — questions?</a:t>
            </a:r>
          </a:p>
        </p:txBody>
      </p:sp>
      <p:sp>
        <p:nvSpPr>
          <p:cNvPr id="3" name="TextBox 2"/>
          <p:cNvSpPr txBox="1"/>
          <p:nvPr/>
        </p:nvSpPr>
        <p:spPr>
          <a:xfrm>
            <a:off x="731520" y="3566160"/>
            <a:ext cx="10698480" cy="548640"/>
          </a:xfrm>
          <a:prstGeom prst="rect">
            <a:avLst/>
          </a:prstGeom>
          <a:noFill/>
        </p:spPr>
        <p:txBody>
          <a:bodyPr wrap="square" anchor="t" lIns="45720" rIns="45720">
            <a:spAutoFit/>
          </a:bodyPr>
          <a:lstStyle/>
          <a:p>
            <a:pPr algn="ctr"/>
            <a:r>
              <a:rPr sz="1600" b="0" i="0">
                <a:solidFill>
                  <a:srgbClr val="CAD5E2"/>
                </a:solidFill>
                <a:latin typeface="Calibri"/>
              </a:rPr>
              <a:t>Code, data provenance and audit: Molecular-Toxicity-Prediction repository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Molecular Toxicity Prediction — Phase 1</dc:title>
  <dc:subject/>
  <dc:creator>Project 8 team</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